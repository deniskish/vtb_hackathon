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762"/>
  </p:normalViewPr>
  <p:slideViewPr>
    <p:cSldViewPr snapToGrid="0">
      <p:cViewPr varScale="1">
        <p:scale>
          <a:sx n="117" d="100"/>
          <a:sy n="117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74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Эффективный бизнес — команда «Максимка»</a:t>
            </a:r>
          </a:p>
          <a:p>
            <a:r>
              <a:t>Требования: «Эффективный бизнес.pdf», 22 страницы, предоставлен пользователем. Стр. 10, резюме проекта. Функциональный состав подтверждается https://github.com/Deniskish/MAX_HACKATHON/blob/b5cb3b92671d2bb06acea7e6cac51792c8c9070f/miniapp/src/business/BusinessApp.tsx. Команда «максимка» — название от пользователя, полный состав и роли пока не предоставлены. Фирменная иллюстрация из miniapp/public/assets/hero-shapes.png.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3853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028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МСП теряет доступ к госсубсидиям</a:t>
            </a:r>
          </a:p>
          <a:p>
            <a:r>
              <a:t>ИСИЭЗ НИУ ВШЭ, «Господдержка науки и инноваций: спрос и эффекты для бизнеса», 19.02.2026, с. 3. Опрос 2025 г., N=1243 промышленных предприятия. 42% МСП — недостаток информации; около 40% — сложность документации; 30% — отсутствие мер под бизнес-задачи. Это доли в выборке, не статистика всех МСП России.</a:t>
            </a:r>
          </a:p>
          <a:p>
            <a:r>
              <a:t>https://issek.hse.ru/mirror/pubs/share/1129990009.pdf</a:t>
            </a:r>
          </a:p>
          <a:p>
            <a:r>
              <a:t>АСИ, Фонд Росконгресс, Группа ДРТ и Media Instinct Group, 19.06.2026: процедурные барьеры и сложность навигации по поддержке.</a:t>
            </a:r>
          </a:p>
          <a:p>
            <a:r>
              <a:t>https://asi.ru/news/207344/</a:t>
            </a:r>
          </a:p>
          <a:p>
            <a:r>
              <a:t>Источники:</a:t>
            </a:r>
          </a:p>
          <a:p>
            <a:r>
              <a:t>https://issek.hse.ru/mirror/pubs/share/1129990009.pdf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956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 проекта и стратегические задачи</a:t>
            </a:r>
          </a:p>
          <a:p>
            <a:r>
              <a:t>Разработка интеллектуальной SaaS-платформы для сквозной автоматизации и упрощения процесса получения государственной поддержки субъектами малого и среднего предпринимательства (МСП).</a:t>
            </a:r>
          </a:p>
          <a:p>
            <a:endParaRPr/>
          </a:p>
          <a:p>
            <a:r>
              <a:t>Ликвидация информационного вакуума</a:t>
            </a:r>
          </a:p>
          <a:p>
            <a:r>
              <a:t>Исключить ручной мониторинг сотен сайтов ведомств. По одному ИНН автоматически загружать доступные сведения о компании и выполнять ИИ-скоринг мер поддержки под её профиль и критерии участия.</a:t>
            </a:r>
          </a:p>
          <a:p>
            <a:endParaRPr/>
          </a:p>
          <a:p>
            <a:r>
              <a:t>Снижение административного барьера</a:t>
            </a:r>
          </a:p>
          <a:p>
            <a:r>
              <a:t>Заменить дорогостоящий юридический консалтинг интерактивным ИИ-ассистентом, который переводит сложные юридические требования документов на понятный бизнесу язык.</a:t>
            </a:r>
          </a:p>
          <a:p>
            <a:endParaRPr/>
          </a:p>
          <a:p>
            <a:r>
              <a:t>Минимизация отказов из-за ошибок</a:t>
            </a:r>
          </a:p>
          <a:p>
            <a:r>
              <a:t>Стремиться к нулю отказов по причинам оформления: автоматизировать сбор данных и заполнение форм, снизить человеческий фактор, внедрить ИИ-валидацию документов перед отправкой в ведомство.</a:t>
            </a:r>
          </a:p>
          <a:p>
            <a:endParaRPr/>
          </a:p>
          <a:p>
            <a:r>
              <a:t>Проактивное сопровождение</a:t>
            </a:r>
          </a:p>
          <a:p>
            <a:r>
              <a:t>Создать систему долгосрочного трекинга: автоматически находить новые субсидии под профиль компании, оценивать их пользу и присылать готовые рекомендации, не дожидаясь самостоятельного поиска.</a:t>
            </a:r>
          </a:p>
          <a:p>
            <a:endParaRPr/>
          </a:p>
          <a:p>
            <a:r>
              <a:t>Целевой путь «в 4 клика» вместо недель бюрократии. Ожидаемый эффект — экономия сотен часов работы и миллионов рублей упущенной выгоды.</a:t>
            </a:r>
          </a:p>
          <a:p>
            <a:r>
              <a:t>Целевые ориентиры проекта, не измеренные результаты. Стремление устранить отказы из-за оформления не означает гарантии предоставления поддержки. Четыре клика — целевой ориентир простоты клиентского пути, который проверяется на пользовательском сценарии.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4422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Кому помогаем и как зарабатываем</a:t>
            </a:r>
          </a:p>
          <a:p>
            <a:r>
              <a:t>МСП без административного ресурса</a:t>
            </a:r>
          </a:p>
          <a:p>
            <a:r>
              <a:t>Микробизнес, начинающие предприниматели и растущие компании без штатных юристов и GR-специалиста. Приоритетные отрасли: производство, АПК, IT и инновации, туризм. Решение принимает собственник, директор или главный бухгалтер.</a:t>
            </a:r>
          </a:p>
          <a:p>
            <a:endParaRPr/>
          </a:p>
          <a:p>
            <a:r>
              <a:t>За что платит предприниматель</a:t>
            </a:r>
          </a:p>
          <a:p>
            <a:r>
              <a:t>За сокращение ручного поиска и подготовки документов. МСП.РФ уже предлагает адресный подбор [4]; ценность «Опоры» — ИИ-сопровождение всего пути в MAX, с общим контекстом компании и заявки. Экономию сравниваем с самостоятельной работой и консалтингом.</a:t>
            </a:r>
          </a:p>
          <a:p>
            <a:endParaRPr/>
          </a:p>
          <a:p>
            <a:r>
              <a:t>Smart-подписка</a:t>
            </a:r>
          </a:p>
          <a:p>
            <a:r>
              <a:t>Регулярная плата за автоматическое сопоставление профиля компании с новыми мерами, мониторинг изменений условий и ИИ-уведомления. Сервис продолжает искать возможности после первой заявки, поэтому ценность подписки сохраняется между обращениями.</a:t>
            </a:r>
          </a:p>
          <a:p>
            <a:endParaRPr/>
          </a:p>
          <a:p>
            <a:r>
              <a:t>Success Fee 1–3% и дополнительные услуги</a:t>
            </a:r>
          </a:p>
          <a:p>
            <a:r>
              <a:t>Комиссия только после фактического получения субсидии. Дополнительная выручка — ИИ-подготовка сложных ТЭО и бизнес-планов. Для займов нужен отдельный тариф. SAM и SOM — проектные ориентиры; спрос, затраты на ИИ и окупаемость проверяются на клиентах.</a:t>
            </a:r>
          </a:p>
          <a:p>
            <a:r>
              <a:t>[3] ФНС: реестр МСП, 10.07.2026: https://www.nalog.gov.ru/rn77/news/activities_fts/16636546/</a:t>
            </a:r>
          </a:p>
          <a:p>
            <a:r>
              <a:t>[4] МСП.РФ: адресный подбор: https://corpmsp.ru/about/press/news/novosti-korporatsii/tsifrovaya_platforma_msp_rf_nachala_sama_predlagat_predprinimatelyam_podkhodyashchie_im_mery_podderzh/</a:t>
            </a:r>
          </a:p>
          <a:p>
            <a:r>
              <a:t>Источники:</a:t>
            </a:r>
          </a:p>
          <a:p>
            <a:r>
              <a:t>https://www.nalog.gov.ru/rn77/news/activities_fts/16636546/</a:t>
            </a:r>
          </a:p>
          <a:p>
            <a:r>
              <a:t>https://corpmsp.ru/about/press/news/novosti-korporatsii/tsifrovaya_platforma_msp_rf_nachala_sama_predlagat_predprinimatelyam_podkhodyashchie_im_mery_podderzh/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1647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Добавление компании по ИНН</a:t>
            </a:r>
          </a:p>
          <a:p>
            <a:r>
              <a:t>Один ИНН вместо ручного заполнения</a:t>
            </a:r>
          </a:p>
          <a:p>
            <a:r>
              <a:t>Пользователь вводит ИНН и нажимает «Загрузить по ИНН». Сервис обращается к источнику данных и переносит доступные сведения в профиль: название, регион, ОКВЭД, форму бизнеса и другие поля. Не нужно заново собирать реквизиты для каждого поиска.</a:t>
            </a:r>
          </a:p>
          <a:p>
            <a:endParaRPr/>
          </a:p>
          <a:p>
            <a:r>
              <a:t>Профиль становится основой подбора</a:t>
            </a:r>
          </a:p>
          <a:p>
            <a:r>
              <a:t>Предприниматель проверяет загруженные сведения и сохраняет бизнес. Отрасль, регион и статус МСП используются при проверке условий поддержки, а затем передаются в контекст ИИ. Недостающие параметры проекта уточняются отдельно.</a:t>
            </a:r>
          </a:p>
          <a:p>
            <a:endParaRPr/>
          </a:p>
          <a:p>
            <a:r>
              <a:t>Готовая основа для всей заявки</a:t>
            </a:r>
          </a:p>
          <a:p>
            <a:r>
              <a:t>Сохранённая компания используется в поиске поддержки, объяснениях ИИ и подготовке документов. Предприниматель дополняет только сведения о конкретном проекте. Это сокращает повторный ввод и позволяет продолжать работу в одном контексте.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5857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 ищет поддержку по данным компании</a:t>
            </a:r>
          </a:p>
          <a:p>
            <a:r>
              <a:t>Поиск начинается с компании</a:t>
            </a:r>
          </a:p>
          <a:p>
            <a:r>
              <a:t>Запрос «Найди субсидии по данным моей компании» отправляется вместе с профилем: ИНН, регион, ОКВЭД и статус бизнеса. ИИ учитывает задачу предпринимателя, а правила сервиса проверяют формальные критерии программ.</a:t>
            </a:r>
          </a:p>
          <a:p>
            <a:endParaRPr/>
          </a:p>
          <a:p>
            <a:r>
              <a:t>Объяснение вместо нерелевантного списка</a:t>
            </a:r>
          </a:p>
          <a:p>
            <a:r>
              <a:t>Ассистент связывает требования меры с данными компании и объясняет, чего не хватает для участия. В записи он различает грант на инновационную разработку и заём на оборудование. Тип финансирования и неизвестные условия видны до начала подготовки заявки.</a:t>
            </a:r>
          </a:p>
          <a:p>
            <a:endParaRPr/>
          </a:p>
          <a:p>
            <a:r>
              <a:t>От ответа к условиям программы</a:t>
            </a:r>
          </a:p>
          <a:p>
            <a:r>
              <a:t>Предприниматель открывает найденную меру прямо из ответа ИИ, изучает ограничения и переходит к документам. Данные компании остаются в контексте: не нужно заново объяснять, чем занимается бизнес. ИИ помогает разобраться с ограничениями до того, как предприниматель потратит время на пакет документов.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9816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 готовит и проверяет документы</a:t>
            </a:r>
          </a:p>
          <a:p>
            <a:r>
              <a:t>Данные компании используются повторно</a:t>
            </a:r>
          </a:p>
          <a:p>
            <a:r>
              <a:t>Профиль, задача, бюджет и выбранная мера остаются в одном контексте. Из загруженных TXT, PDF и DOCX приложение извлекает текст; для поддерживаемых сканов доступно распознавание. Предприниматель проверяет сведения перед использованием.</a:t>
            </a:r>
          </a:p>
          <a:p>
            <a:endParaRPr/>
          </a:p>
          <a:p>
            <a:r>
              <a:t>ИИ помогает составить пакет</a:t>
            </a:r>
          </a:p>
          <a:p>
            <a:r>
              <a:t>Ассистент получает требования программы и материалы проекта, формирует редактируемый черновик и помогает доработать содержание. Вместо самостоятельного разбора каждого документа предприниматель следует понятным шагам и подтверждает изменения.</a:t>
            </a:r>
          </a:p>
          <a:p>
            <a:endParaRPr/>
          </a:p>
          <a:p>
            <a:r>
              <a:t>Проверка до подачи</a:t>
            </a:r>
          </a:p>
          <a:p>
            <a:r>
              <a:t>Сервис проверяет комплектность, ИИ отмечает пробелы и противоречия в содержании. Пользователь исправляет замечания и выгружает тексты. В записи — пример заявки ФРП на оборудование с подготовленными ответами ИИ. Такая проверка снижает риск ошибок, но не гарантирует одобрение.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5710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Сопровождение продолжается после заявки</a:t>
            </a:r>
          </a:p>
          <a:p>
            <a:r>
              <a:t>Подготовленный комплект и следующий шаг</a:t>
            </a:r>
          </a:p>
          <a:p>
            <a:r>
              <a:t>Предприниматель выгружает тексты документов и открывает страницу официального оператора. Данные проекта сохранены для продолжения работы. Реальная отправка и внешние статусы требуют подключения государственных систем; квитанция в демо не подтверждает подачу.</a:t>
            </a:r>
          </a:p>
          <a:p>
            <a:endParaRPr/>
          </a:p>
          <a:p>
            <a:r>
              <a:t>Проактивный поиск новых возможностей</a:t>
            </a:r>
          </a:p>
          <a:p>
            <a:r>
              <a:t>Импорт обновляет каталог мер и проверяет источники. Сервис повторно сопоставляет новые программы с профилем бизнеса, ИИ объясняет их применимость и пользу. Пользователь видит персональные рекомендации без повторного заполнения компании.</a:t>
            </a:r>
          </a:p>
          <a:p>
            <a:endParaRPr/>
          </a:p>
          <a:p>
            <a:r>
              <a:t>Уведомления в привычном канале</a:t>
            </a:r>
          </a:p>
          <a:p>
            <a:r>
              <a:t>В MAX можно включить сообщения о новых мерах поддержки. После проверки рекомендации создаётся уведомление и запись в очереди бота. Подписка охватывает длительное сопровождение бизнеса; доставка зависит от платформы. В записи показана настройка уведомлений.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62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данные и ИИ связывают весь процесс</a:t>
            </a:r>
          </a:p>
          <a:p>
            <a:r>
              <a:t>ИНН и официальный каталог</a:t>
            </a:r>
          </a:p>
          <a:p>
            <a:r>
              <a:t>По ИНН загружаются сведения из DaData или индекса ФНС. Каталог объединяет меры из официальных федеральных и региональных источников. Источник и дата проверки сохраняются.</a:t>
            </a:r>
          </a:p>
          <a:p>
            <a:endParaRPr/>
          </a:p>
          <a:p>
            <a:r>
              <a:t>Правила и ИИ выполняют разные задачи</a:t>
            </a:r>
          </a:p>
          <a:p>
            <a:r>
              <a:t>Код проверяет формальные условия участия. GigaChat получает профиль, задачу и выбранную меру, помогает искать и объяснять поддержку, готовить и проверять тексты. Для рекомендаций важны источник, дата проверки и неизвестные критерии.</a:t>
            </a:r>
          </a:p>
          <a:p>
            <a:endParaRPr/>
          </a:p>
          <a:p>
            <a:r>
              <a:t>Сохранение и дальнейшая интеграция</a:t>
            </a:r>
          </a:p>
          <a:p>
            <a:r>
              <a:t>SQLite хранит аккаунты, компании и очередь уведомлений; JSON — снимки каталога. Черновики остаются на устройстве. Для сквозной подачи нужны официальные адаптеры ЕСИА, ведомств и статусов.</a:t>
            </a:r>
          </a:p>
          <a:p>
            <a:r>
              <a:t>[5] Код, архитектура и интеграции: https://github.com/Deniskish/MAX_HACKATHON/tree/cdad3e7a385f31536600b29bf2d41bd5950ba781/docs</a:t>
            </a:r>
          </a:p>
          <a:p>
            <a:r>
              <a:t>Источники:</a:t>
            </a:r>
          </a:p>
          <a:p>
            <a:r>
              <a:t>https://github.com/Deniskish/MAX_HACKATHON/tree/cdad3e7a385f31536600b29bf2d41bd5950ba781/docs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4129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Масштабирование и условия адаптации</a:t>
            </a:r>
          </a:p>
          <a:p>
            <a:r>
              <a:t>Государственные интеграции</a:t>
            </a:r>
          </a:p>
          <a:p>
            <a:r>
              <a:t>Ближайшее направление — подключение ЕСИА и официальных API операторов, включая МСП.РФ при доступности интеграции. Это позволит подтверждать полномочия, отправлять документы и получать статусы. Нужны соглашения, права доступа и соблюдение регламентов.</a:t>
            </a:r>
          </a:p>
          <a:p>
            <a:endParaRPr/>
          </a:p>
          <a:p>
            <a:r>
              <a:t>Новые финансовые инструменты</a:t>
            </a:r>
          </a:p>
          <a:p>
            <a:r>
              <a:t>Расширяем подбор за пределы субсидий: льготные кредиты, коммерческие гранты, промышленная ипотека и госзакупки. Для каждого инструмента добавляем критерии, документы и правила проверки. Сохраняем общий профиль бизнеса и ИИ-сопровождение.</a:t>
            </a:r>
          </a:p>
          <a:p>
            <a:endParaRPr/>
          </a:p>
          <a:p>
            <a:r>
              <a:t>B2G и White Label</a:t>
            </a:r>
          </a:p>
          <a:p>
            <a:r>
              <a:t>Поставка сервиса под брендом регионального ведомства или центра «Мой бизнес». Регион получает каталог своих мер, предварительную проверку документов и сопровождение заявителей. Внедрение требует согласования владельцев данных, процесса и интеграций.</a:t>
            </a:r>
          </a:p>
          <a:p>
            <a:endParaRPr/>
          </a:p>
          <a:p>
            <a:r>
              <a:t>Общее ядро и адаптация</a:t>
            </a:r>
          </a:p>
          <a:p>
            <a:r>
              <a:t>При переносе сохраняются профиль по ИНН, механизм подбора и ИИ-контекст. Настраиваются региональные источники, нормативные критерии, формы и каналы подачи. Нужны эксперт по мерам, техническая поддержка, доступ к данным и бюджет инфраструктуры.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888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 и основания</a:t>
            </a:r>
          </a:p>
          <a:p>
            <a:r>
              <a:t>[1] Барьеры доступа к господдержке</a:t>
            </a:r>
          </a:p>
          <a:p>
            <a:r>
              <a:t>ИСИЭЗ НИУ ВШЭ, 19.02.2026: опрос 2025 года, 1 243 промышленных предприятия. Среди МСП выборки 42% отмечают нехватку информации, около 40% — сложность документов, 30% — отсутствие мер под задачи бизнеса.</a:t>
            </a:r>
          </a:p>
          <a:p>
            <a:endParaRPr/>
          </a:p>
          <a:p>
            <a:r>
              <a:t>[2] Процедуры и доступность</a:t>
            </a:r>
          </a:p>
          <a:p>
            <a:r>
              <a:t>АСИ, Фонд Росконгресс, Группа ДРТ и Media Instinct Group, 19.06.2026: сложная навигация и процедурные барьеры ограничивают доступ к поддержке. Исследование обосновывает потребность в упрощении пользовательского пути.</a:t>
            </a:r>
          </a:p>
          <a:p>
            <a:endParaRPr/>
          </a:p>
          <a:p>
            <a:r>
              <a:t>[3–4] Рынок и альтернативы</a:t>
            </a:r>
          </a:p>
          <a:p>
            <a:r>
              <a:t>ФНС, 10.07.2026: 6,6 млн субъектов МСП. Корпорация МСП описывает адресный подбор на МСП.РФ. SAM ≈1,2 млн и SOM 15 000 — ориентиры проекта. «4 клика», экономия и снижение ошибок — цели, а не результаты измерений.</a:t>
            </a:r>
          </a:p>
          <a:p>
            <a:endParaRPr/>
          </a:p>
          <a:p>
            <a:r>
              <a:t>[5–7] Продукт и демонстрации</a:t>
            </a:r>
          </a:p>
          <a:p>
            <a:r>
              <a:t>Архитектура и доступные функции описаны в репозитории. В записи — интерфейс приложения, учебная компания и подготовленные ответы источников и ИИ. ФСИ показывает пример гранта, ФРП — займа. Реальная подача и государственные статусы не подключены.</a:t>
            </a:r>
          </a:p>
          <a:p>
            <a:r>
              <a:t>[1] Исследование НИУ ВШЭ: https://issek.hse.ru/mirror/pubs/share/1129990009.pdf</a:t>
            </a:r>
          </a:p>
          <a:p>
            <a:r>
              <a:t>[2] АСИ и Росконгресс: https://asi.ru/news/207344/</a:t>
            </a:r>
          </a:p>
          <a:p>
            <a:r>
              <a:t>[3] ФНС: реестр МСП: https://www.nalog.gov.ru/rn77/news/activities_fts/16636546/</a:t>
            </a:r>
          </a:p>
          <a:p>
            <a:r>
              <a:t>[4] МСП.РФ: адресный подбор: https://corpmsp.ru/about/press/news/novosti-korporatsii/tsifrovaya_platforma_msp_rf_nachala_sama_predlagat_predprinimatelyam_podkhodyashchie_im_mery_podderzh/</a:t>
            </a:r>
          </a:p>
          <a:p>
            <a:r>
              <a:t>[5] Репозиторий проекта: https://github.com/Deniskish/MAX_HACKATHON/tree/cdad3e7a385f31536600b29bf2d41bd5950ba781</a:t>
            </a:r>
          </a:p>
          <a:p>
            <a:r>
              <a:t>[6] ФСИ: программа «Старт»: https://fasie.ru/programs/programma-start/</a:t>
            </a:r>
          </a:p>
          <a:p>
            <a:r>
              <a:t>[7] ФРП: программы: https://frprf.ru/zaymy/</a:t>
            </a:r>
          </a:p>
          <a:p>
            <a:r>
              <a:t>Источники:</a:t>
            </a:r>
          </a:p>
          <a:p>
            <a:r>
              <a:t>https://issek.hse.ru/mirror/pubs/share/1129990009.pdf</a:t>
            </a:r>
          </a:p>
          <a:p>
            <a:r>
              <a:t>https://asi.ru/news/207344/</a:t>
            </a:r>
          </a:p>
          <a:p>
            <a:r>
              <a:t>https://www.nalog.gov.ru/rn77/news/activities_fts/16636546/</a:t>
            </a:r>
          </a:p>
          <a:p>
            <a:r>
              <a:t>https://corpmsp.ru/about/press/news/novosti-korporatsii/tsifrovaya_platforma_msp_rf_nachala_sama_predlagat_predprinimatelyam_podkhodyashchie_im_mery_podderzh/</a:t>
            </a:r>
          </a:p>
          <a:p>
            <a:r>
              <a:t>https://github.com/Deniskish/MAX_HACKATHON/tree/cdad3e7a385f31536600b29bf2d41bd5950ba781</a:t>
            </a:r>
          </a:p>
          <a:p>
            <a:r>
              <a:t>https://fasie.ru/programs/programma-start/</a:t>
            </a:r>
          </a:p>
          <a:p>
            <a:r>
              <a:t>https://frprf.ru/zaymy/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0255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ssek.hse.ru/mirror/pubs/share/1129990009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log.gov.ru/rn77/news/activities_fts/16636546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rpmsp.ru/about/press/news/novosti-korporatsii/tsifrovaya_platforma_msp_rf_nachala_sama_predlagat_predprinimatelyam_podkhodyashchie_im_mery_podderzh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niskish/MAX_HACKATHON/tree/cdad3e7a385f31536600b29bf2d41bd5950ba781/doc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fasie.ru/programs/programma-start/" TargetMode="External"/><Relationship Id="rId3" Type="http://schemas.openxmlformats.org/officeDocument/2006/relationships/hyperlink" Target="https://issek.hse.ru/mirror/pubs/share/1129990009.pdf" TargetMode="External"/><Relationship Id="rId7" Type="http://schemas.openxmlformats.org/officeDocument/2006/relationships/hyperlink" Target="https://github.com/Deniskish/MAX_HACKATHON/tree/cdad3e7a385f31536600b29bf2d41bd5950ba78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rpmsp.ru/about/press/news/novosti-korporatsii/tsifrovaya_platforma_msp_rf_nachala_sama_predlagat_predprinimatelyam_podkhodyashchie_im_mery_podderzh/" TargetMode="External"/><Relationship Id="rId5" Type="http://schemas.openxmlformats.org/officeDocument/2006/relationships/hyperlink" Target="https://www.nalog.gov.ru/rn77/news/activities_fts/16636546/" TargetMode="External"/><Relationship Id="rId4" Type="http://schemas.openxmlformats.org/officeDocument/2006/relationships/hyperlink" Target="https://asi.ru/news/207344/" TargetMode="External"/><Relationship Id="rId9" Type="http://schemas.openxmlformats.org/officeDocument/2006/relationships/hyperlink" Target="https://frprf.ru/zaym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6D59A0-0C85-59C4-C662-DD06E60FA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15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09243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dirty="0" err="1">
                <a:solidFill>
                  <a:srgbClr val="1F2024"/>
                </a:solidFill>
                <a:latin typeface="Arial"/>
              </a:rPr>
              <a:t>Наша</a:t>
            </a:r>
            <a:r>
              <a:rPr sz="3200" b="1" dirty="0">
                <a:solidFill>
                  <a:srgbClr val="1F2024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F2024"/>
                </a:solidFill>
                <a:latin typeface="Arial"/>
              </a:rPr>
              <a:t>команда</a:t>
            </a:r>
            <a:endParaRPr sz="3200" b="1" dirty="0">
              <a:solidFill>
                <a:srgbClr val="1F2024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2130551"/>
            <a:ext cx="438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6440" y="1755648"/>
            <a:ext cx="3520440" cy="3474720"/>
          </a:xfrm>
          <a:prstGeom prst="round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24100" y="2007887"/>
            <a:ext cx="438912" cy="310896"/>
          </a:xfrm>
          <a:prstGeom prst="roundRect">
            <a:avLst/>
          </a:prstGeom>
          <a:solidFill>
            <a:srgbClr val="675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24100" y="2053607"/>
            <a:ext cx="43891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rial"/>
              </a:rPr>
              <a:t>0</a:t>
            </a:r>
            <a:r>
              <a:rPr lang="ru-RU" sz="1000" b="1" dirty="0">
                <a:solidFill>
                  <a:srgbClr val="FFFFFF"/>
                </a:solidFill>
                <a:latin typeface="Arial"/>
              </a:rPr>
              <a:t>1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Picture 14" descr="pers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992" y="2231137"/>
            <a:ext cx="1554480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25040" y="3931921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1F2024"/>
                </a:solidFill>
                <a:latin typeface="Arial"/>
              </a:rPr>
              <a:t>Павлов Иван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5040" y="4279392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6750D3"/>
                </a:solidFill>
                <a:latin typeface="Arial"/>
              </a:rPr>
              <a:t>Backend-разработчик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755648"/>
            <a:ext cx="3520440" cy="3474720"/>
          </a:xfrm>
          <a:prstGeom prst="round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0" y="2061192"/>
            <a:ext cx="438912" cy="295578"/>
          </a:xfrm>
          <a:prstGeom prst="roundRect">
            <a:avLst/>
          </a:prstGeom>
          <a:solidFill>
            <a:srgbClr val="675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106912"/>
            <a:ext cx="43891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rial"/>
              </a:rPr>
              <a:t>0</a:t>
            </a:r>
            <a:r>
              <a:rPr lang="ru-RU" sz="1000" b="1" dirty="0">
                <a:solidFill>
                  <a:srgbClr val="FFFFFF"/>
                </a:solidFill>
                <a:latin typeface="Arial"/>
              </a:rPr>
              <a:t>2</a:t>
            </a:r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Picture 21" descr="pers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231137"/>
            <a:ext cx="1554480" cy="14778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3720" y="3931921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1F2024"/>
                </a:solidFill>
                <a:latin typeface="Arial"/>
              </a:rPr>
              <a:t>Фролов Денис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279392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6750D3"/>
                </a:solidFill>
                <a:latin typeface="Arial"/>
              </a:rPr>
              <a:t>Frontend-разработчик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592824"/>
            <a:ext cx="11283696" cy="9144"/>
          </a:xfrm>
          <a:prstGeom prst="rect">
            <a:avLst/>
          </a:prstGeom>
          <a:solidFill>
            <a:srgbClr val="D7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00232" y="660196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494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-full-14">
            <a:extLst>
              <a:ext uri="{FF2B5EF4-FFF2-40B4-BE49-F238E27FC236}">
                <a16:creationId xmlns:a16="http://schemas.microsoft.com/office/drawing/2014/main" id="{175BDEEE-A535-4A76-A9DB-A55352C8EAE2}"/>
              </a:ext>
            </a:extLst>
          </p:cNvPr>
          <p:cNvSpPr>
            <a:spLocks noGrp="1"/>
          </p:cNvSpPr>
          <p:nvPr/>
        </p:nvSpPr>
        <p:spPr>
          <a:xfrm>
            <a:off x="7715250" y="1762125"/>
            <a:ext cx="4019550" cy="4667250"/>
          </a:xfrm>
          <a:prstGeom prst="roundRect">
            <a:avLst>
              <a:gd name="adj" fmla="val 5687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3" name="problem-full-20">
            <a:extLst>
              <a:ext uri="{FF2B5EF4-FFF2-40B4-BE49-F238E27FC236}">
                <a16:creationId xmlns:a16="http://schemas.microsoft.com/office/drawing/2014/main" id="{8560F73A-B627-4804-A9EB-BDD2C22A9C8D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4" name="problem-full-2">
            <a:extLst>
              <a:ext uri="{FF2B5EF4-FFF2-40B4-BE49-F238E27FC236}">
                <a16:creationId xmlns:a16="http://schemas.microsoft.com/office/drawing/2014/main" id="{3AA9EB80-E1B6-44D5-A89B-AA84A2233170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306175" cy="4451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Почему</a:t>
            </a:r>
            <a:r>
              <a:rPr sz="2850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МСП </a:t>
            </a:r>
            <a:r>
              <a:rPr lang="ru-RU" sz="2850" b="1" dirty="0">
                <a:solidFill>
                  <a:srgbClr val="202126"/>
                </a:solidFill>
                <a:latin typeface="Arial"/>
              </a:rPr>
              <a:t>сложно получить доступ к мерам поддержки</a:t>
            </a:r>
            <a:endParaRPr sz="285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roblem-full-4">
            <a:extLst>
              <a:ext uri="{FF2B5EF4-FFF2-40B4-BE49-F238E27FC236}">
                <a16:creationId xmlns:a16="http://schemas.microsoft.com/office/drawing/2014/main" id="{BF9C18D0-3EBA-43A3-8A4E-2B83E8D5CB2E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962025" cy="386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7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42%</a:t>
            </a:r>
          </a:p>
        </p:txBody>
      </p:sp>
      <p:sp>
        <p:nvSpPr>
          <p:cNvPr id="6" name="problem-full-5">
            <a:extLst>
              <a:ext uri="{FF2B5EF4-FFF2-40B4-BE49-F238E27FC236}">
                <a16:creationId xmlns:a16="http://schemas.microsoft.com/office/drawing/2014/main" id="{A2CE2531-248C-4804-B8C0-90A88CE5CA79}"/>
              </a:ext>
            </a:extLst>
          </p:cNvPr>
          <p:cNvSpPr>
            <a:spLocks noGrp="1"/>
          </p:cNvSpPr>
          <p:nvPr/>
        </p:nvSpPr>
        <p:spPr>
          <a:xfrm>
            <a:off x="1552575" y="1724025"/>
            <a:ext cx="5867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Дефицит верифицированной информации о</a:t>
            </a:r>
          </a:p>
        </p:txBody>
      </p:sp>
      <p:sp>
        <p:nvSpPr>
          <p:cNvPr id="7" name="problem-full-5">
            <a:extLst>
              <a:ext uri="{FF2B5EF4-FFF2-40B4-BE49-F238E27FC236}">
                <a16:creationId xmlns:a16="http://schemas.microsoft.com/office/drawing/2014/main" id="{92726A99-1824-4693-B050-B4EECABE0656}"/>
              </a:ext>
            </a:extLst>
          </p:cNvPr>
          <p:cNvSpPr>
            <a:spLocks noGrp="1"/>
          </p:cNvSpPr>
          <p:nvPr/>
        </p:nvSpPr>
        <p:spPr>
          <a:xfrm>
            <a:off x="1552575" y="1982391"/>
            <a:ext cx="5867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госсубсидиях</a:t>
            </a:r>
          </a:p>
        </p:txBody>
      </p:sp>
      <p:sp>
        <p:nvSpPr>
          <p:cNvPr id="8" name="problem-full-6">
            <a:extLst>
              <a:ext uri="{FF2B5EF4-FFF2-40B4-BE49-F238E27FC236}">
                <a16:creationId xmlns:a16="http://schemas.microsoft.com/office/drawing/2014/main" id="{317B74DA-93E2-4135-8902-00749F74E9C9}"/>
              </a:ext>
            </a:extLst>
          </p:cNvPr>
          <p:cNvSpPr>
            <a:spLocks noGrp="1"/>
          </p:cNvSpPr>
          <p:nvPr/>
        </p:nvSpPr>
        <p:spPr>
          <a:xfrm>
            <a:off x="457200" y="2362200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Предприниматели сталкиваются с отсутствием единого сквозного канала</a:t>
            </a:r>
          </a:p>
        </p:txBody>
      </p:sp>
      <p:sp>
        <p:nvSpPr>
          <p:cNvPr id="9" name="problem-full-6">
            <a:extLst>
              <a:ext uri="{FF2B5EF4-FFF2-40B4-BE49-F238E27FC236}">
                <a16:creationId xmlns:a16="http://schemas.microsoft.com/office/drawing/2014/main" id="{A887C6B3-9471-48BD-8F9B-87CEE592204D}"/>
              </a:ext>
            </a:extLst>
          </p:cNvPr>
          <p:cNvSpPr>
            <a:spLocks noGrp="1"/>
          </p:cNvSpPr>
          <p:nvPr/>
        </p:nvSpPr>
        <p:spPr>
          <a:xfrm>
            <a:off x="457200" y="2586930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информирования. Сведения разрознены по сайтам профильных министерств</a:t>
            </a:r>
          </a:p>
        </p:txBody>
      </p:sp>
      <p:sp>
        <p:nvSpPr>
          <p:cNvPr id="10" name="problem-full-6">
            <a:extLst>
              <a:ext uri="{FF2B5EF4-FFF2-40B4-BE49-F238E27FC236}">
                <a16:creationId xmlns:a16="http://schemas.microsoft.com/office/drawing/2014/main" id="{9DA1C623-204B-4ED3-B504-FA0A954A8E53}"/>
              </a:ext>
            </a:extLst>
          </p:cNvPr>
          <p:cNvSpPr>
            <a:spLocks noGrp="1"/>
          </p:cNvSpPr>
          <p:nvPr/>
        </p:nvSpPr>
        <p:spPr>
          <a:xfrm>
            <a:off x="457200" y="2811661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ведомств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бизнес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упускает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сроки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открытия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бюджетных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окон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отбора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problem-full-6">
            <a:extLst>
              <a:ext uri="{FF2B5EF4-FFF2-40B4-BE49-F238E27FC236}">
                <a16:creationId xmlns:a16="http://schemas.microsoft.com/office/drawing/2014/main" id="{A5A5A58E-0FF8-4241-98C0-6FBEFFFBDD8A}"/>
              </a:ext>
            </a:extLst>
          </p:cNvPr>
          <p:cNvSpPr>
            <a:spLocks noGrp="1"/>
          </p:cNvSpPr>
          <p:nvPr/>
        </p:nvSpPr>
        <p:spPr>
          <a:xfrm>
            <a:off x="457200" y="3036391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заявок.</a:t>
            </a:r>
          </a:p>
        </p:txBody>
      </p:sp>
      <p:sp>
        <p:nvSpPr>
          <p:cNvPr id="12" name="problem-full-7">
            <a:extLst>
              <a:ext uri="{FF2B5EF4-FFF2-40B4-BE49-F238E27FC236}">
                <a16:creationId xmlns:a16="http://schemas.microsoft.com/office/drawing/2014/main" id="{CBB21285-6E30-4291-A914-2ED62FE08C8A}"/>
              </a:ext>
            </a:extLst>
          </p:cNvPr>
          <p:cNvSpPr>
            <a:spLocks noGrp="1"/>
          </p:cNvSpPr>
          <p:nvPr/>
        </p:nvSpPr>
        <p:spPr>
          <a:xfrm>
            <a:off x="457200" y="3381375"/>
            <a:ext cx="962025" cy="386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7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2475" b="1" dirty="0">
                <a:solidFill>
                  <a:srgbClr val="6554B8"/>
                </a:solidFill>
                <a:latin typeface="Arial"/>
                <a:ea typeface="Arial"/>
                <a:cs typeface="Arial"/>
              </a:rPr>
              <a:t>≈40%</a:t>
            </a:r>
          </a:p>
        </p:txBody>
      </p:sp>
      <p:sp>
        <p:nvSpPr>
          <p:cNvPr id="13" name="problem-full-8">
            <a:extLst>
              <a:ext uri="{FF2B5EF4-FFF2-40B4-BE49-F238E27FC236}">
                <a16:creationId xmlns:a16="http://schemas.microsoft.com/office/drawing/2014/main" id="{6311E1E2-6303-463B-82BB-1785FDB0C2E9}"/>
              </a:ext>
            </a:extLst>
          </p:cNvPr>
          <p:cNvSpPr>
            <a:spLocks noGrp="1"/>
          </p:cNvSpPr>
          <p:nvPr/>
        </p:nvSpPr>
        <p:spPr>
          <a:xfrm>
            <a:off x="1552575" y="3390900"/>
            <a:ext cx="5867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Сложность</a:t>
            </a:r>
            <a:r>
              <a:rPr sz="17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нормативно-правовых</a:t>
            </a:r>
            <a:r>
              <a:rPr sz="17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процедур</a:t>
            </a:r>
            <a:endParaRPr sz="1725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roblem-full-9">
            <a:extLst>
              <a:ext uri="{FF2B5EF4-FFF2-40B4-BE49-F238E27FC236}">
                <a16:creationId xmlns:a16="http://schemas.microsoft.com/office/drawing/2014/main" id="{9B1FBEA7-8E4A-4FFC-BAA2-92210100DC01}"/>
              </a:ext>
            </a:extLst>
          </p:cNvPr>
          <p:cNvSpPr>
            <a:spLocks noGrp="1"/>
          </p:cNvSpPr>
          <p:nvPr/>
        </p:nvSpPr>
        <p:spPr>
          <a:xfrm>
            <a:off x="457200" y="3867150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Высокий уровень бюрократизации, жёсткие требования к конкурсной</a:t>
            </a:r>
          </a:p>
        </p:txBody>
      </p:sp>
      <p:sp>
        <p:nvSpPr>
          <p:cNvPr id="15" name="problem-full-9">
            <a:extLst>
              <a:ext uri="{FF2B5EF4-FFF2-40B4-BE49-F238E27FC236}">
                <a16:creationId xmlns:a16="http://schemas.microsoft.com/office/drawing/2014/main" id="{813AA598-4E7D-4A72-BA35-C41C60C80864}"/>
              </a:ext>
            </a:extLst>
          </p:cNvPr>
          <p:cNvSpPr>
            <a:spLocks noGrp="1"/>
          </p:cNvSpPr>
          <p:nvPr/>
        </p:nvSpPr>
        <p:spPr>
          <a:xfrm>
            <a:off x="457200" y="4091880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документации и сложные регламенты становятся стоп-факторами. У МСП</a:t>
            </a:r>
          </a:p>
        </p:txBody>
      </p:sp>
      <p:sp>
        <p:nvSpPr>
          <p:cNvPr id="16" name="problem-full-9">
            <a:extLst>
              <a:ext uri="{FF2B5EF4-FFF2-40B4-BE49-F238E27FC236}">
                <a16:creationId xmlns:a16="http://schemas.microsoft.com/office/drawing/2014/main" id="{63C264F3-0C50-4BF2-8635-A3F8E7E93234}"/>
              </a:ext>
            </a:extLst>
          </p:cNvPr>
          <p:cNvSpPr>
            <a:spLocks noGrp="1"/>
          </p:cNvSpPr>
          <p:nvPr/>
        </p:nvSpPr>
        <p:spPr>
          <a:xfrm>
            <a:off x="457200" y="4316611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без штатных юристов нет ресурса для самостоятельного преодоления этих</a:t>
            </a:r>
          </a:p>
        </p:txBody>
      </p:sp>
      <p:sp>
        <p:nvSpPr>
          <p:cNvPr id="17" name="problem-full-9">
            <a:extLst>
              <a:ext uri="{FF2B5EF4-FFF2-40B4-BE49-F238E27FC236}">
                <a16:creationId xmlns:a16="http://schemas.microsoft.com/office/drawing/2014/main" id="{A1CA0A67-BEF4-4450-8C22-70FEFD06A57C}"/>
              </a:ext>
            </a:extLst>
          </p:cNvPr>
          <p:cNvSpPr>
            <a:spLocks noGrp="1"/>
          </p:cNvSpPr>
          <p:nvPr/>
        </p:nvSpPr>
        <p:spPr>
          <a:xfrm>
            <a:off x="457200" y="4541341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барьеров.</a:t>
            </a:r>
          </a:p>
        </p:txBody>
      </p:sp>
      <p:sp>
        <p:nvSpPr>
          <p:cNvPr id="18" name="problem-full-10">
            <a:extLst>
              <a:ext uri="{FF2B5EF4-FFF2-40B4-BE49-F238E27FC236}">
                <a16:creationId xmlns:a16="http://schemas.microsoft.com/office/drawing/2014/main" id="{6756D0C9-56ED-4739-8F6E-2D072A9C8BCC}"/>
              </a:ext>
            </a:extLst>
          </p:cNvPr>
          <p:cNvSpPr>
            <a:spLocks noGrp="1"/>
          </p:cNvSpPr>
          <p:nvPr/>
        </p:nvSpPr>
        <p:spPr>
          <a:xfrm>
            <a:off x="457200" y="4886325"/>
            <a:ext cx="962025" cy="386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7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9" name="problem-full-11">
            <a:extLst>
              <a:ext uri="{FF2B5EF4-FFF2-40B4-BE49-F238E27FC236}">
                <a16:creationId xmlns:a16="http://schemas.microsoft.com/office/drawing/2014/main" id="{6E36A2DF-E28F-4E43-B76D-4A26A1D67AEA}"/>
              </a:ext>
            </a:extLst>
          </p:cNvPr>
          <p:cNvSpPr>
            <a:spLocks noGrp="1"/>
          </p:cNvSpPr>
          <p:nvPr/>
        </p:nvSpPr>
        <p:spPr>
          <a:xfrm>
            <a:off x="1552575" y="4895850"/>
            <a:ext cx="5867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Разрыв между мерами и задачами бизнеса</a:t>
            </a:r>
          </a:p>
        </p:txBody>
      </p:sp>
      <p:sp>
        <p:nvSpPr>
          <p:cNvPr id="20" name="problem-full-12">
            <a:extLst>
              <a:ext uri="{FF2B5EF4-FFF2-40B4-BE49-F238E27FC236}">
                <a16:creationId xmlns:a16="http://schemas.microsoft.com/office/drawing/2014/main" id="{C19374B1-96BF-4508-B12D-D34293D5D0AE}"/>
              </a:ext>
            </a:extLst>
          </p:cNvPr>
          <p:cNvSpPr>
            <a:spLocks noGrp="1"/>
          </p:cNvSpPr>
          <p:nvPr/>
        </p:nvSpPr>
        <p:spPr>
          <a:xfrm>
            <a:off x="457200" y="5372100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Компании не могут самостоятельно сопоставить свой финансово-</a:t>
            </a:r>
          </a:p>
        </p:txBody>
      </p:sp>
      <p:sp>
        <p:nvSpPr>
          <p:cNvPr id="21" name="problem-full-12">
            <a:extLst>
              <a:ext uri="{FF2B5EF4-FFF2-40B4-BE49-F238E27FC236}">
                <a16:creationId xmlns:a16="http://schemas.microsoft.com/office/drawing/2014/main" id="{4C320687-F79F-45D6-87C5-57A499716DAB}"/>
              </a:ext>
            </a:extLst>
          </p:cNvPr>
          <p:cNvSpPr>
            <a:spLocks noGrp="1"/>
          </p:cNvSpPr>
          <p:nvPr/>
        </p:nvSpPr>
        <p:spPr>
          <a:xfrm>
            <a:off x="457200" y="5596830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хозяйственный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профиль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жёсткими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нормативными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условиями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конкретной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roblem-full-12">
            <a:extLst>
              <a:ext uri="{FF2B5EF4-FFF2-40B4-BE49-F238E27FC236}">
                <a16:creationId xmlns:a16="http://schemas.microsoft.com/office/drawing/2014/main" id="{ECA675A4-74F9-46DC-8A20-92272A0C5DBD}"/>
              </a:ext>
            </a:extLst>
          </p:cNvPr>
          <p:cNvSpPr>
            <a:spLocks noGrp="1"/>
          </p:cNvSpPr>
          <p:nvPr/>
        </p:nvSpPr>
        <p:spPr>
          <a:xfrm>
            <a:off x="457200" y="5821561"/>
            <a:ext cx="69627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субсидии, тратя ресурсы на нерелевантные конкурсы.</a:t>
            </a:r>
          </a:p>
        </p:txBody>
      </p:sp>
      <p:sp>
        <p:nvSpPr>
          <p:cNvPr id="23" name="problem-full-13">
            <a:extLst>
              <a:ext uri="{FF2B5EF4-FFF2-40B4-BE49-F238E27FC236}">
                <a16:creationId xmlns:a16="http://schemas.microsoft.com/office/drawing/2014/main" id="{52FC4A12-BC6D-4B4C-8C9F-3E366C1A1177}"/>
              </a:ext>
            </a:extLst>
          </p:cNvPr>
          <p:cNvSpPr>
            <a:spLocks noGrp="1"/>
          </p:cNvSpPr>
          <p:nvPr/>
        </p:nvSpPr>
        <p:spPr>
          <a:xfrm>
            <a:off x="457200" y="6181725"/>
            <a:ext cx="70389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7681"/>
                </a:solidFill>
                <a:latin typeface="Arial"/>
                <a:ea typeface="Arial"/>
                <a:cs typeface="Arial"/>
                <a:hlinkClick r:id="rId3"/>
              </a:rPr>
              <a:t>НИУ ВШЭ: опрос 2025 г., N = 1 243 промышленных предприятия. Доли — МСП в выборке;</a:t>
            </a:r>
          </a:p>
        </p:txBody>
      </p:sp>
      <p:sp>
        <p:nvSpPr>
          <p:cNvPr id="24" name="problem-full-13">
            <a:extLst>
              <a:ext uri="{FF2B5EF4-FFF2-40B4-BE49-F238E27FC236}">
                <a16:creationId xmlns:a16="http://schemas.microsoft.com/office/drawing/2014/main" id="{1798ED38-A638-48BC-8D00-981B9D32D4CA}"/>
              </a:ext>
            </a:extLst>
          </p:cNvPr>
          <p:cNvSpPr>
            <a:spLocks noGrp="1"/>
          </p:cNvSpPr>
          <p:nvPr/>
        </p:nvSpPr>
        <p:spPr>
          <a:xfrm>
            <a:off x="457200" y="6316563"/>
            <a:ext cx="70389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7681"/>
                </a:solidFill>
                <a:latin typeface="Arial"/>
                <a:ea typeface="Arial"/>
                <a:cs typeface="Arial"/>
                <a:hlinkClick r:id="rId3"/>
              </a:rPr>
              <a:t>30% указали отсутствие мер под свои задачи, а не несоответствие критериям.</a:t>
            </a:r>
          </a:p>
        </p:txBody>
      </p:sp>
      <p:sp>
        <p:nvSpPr>
          <p:cNvPr id="25" name="problem-full-15">
            <a:extLst>
              <a:ext uri="{FF2B5EF4-FFF2-40B4-BE49-F238E27FC236}">
                <a16:creationId xmlns:a16="http://schemas.microsoft.com/office/drawing/2014/main" id="{9CB376AD-56A5-443E-A03C-12A3C02E1BB1}"/>
              </a:ext>
            </a:extLst>
          </p:cNvPr>
          <p:cNvSpPr>
            <a:spLocks noGrp="1"/>
          </p:cNvSpPr>
          <p:nvPr/>
        </p:nvSpPr>
        <p:spPr>
          <a:xfrm>
            <a:off x="7943850" y="1962150"/>
            <a:ext cx="359092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Последствия для бизнеса</a:t>
            </a:r>
          </a:p>
        </p:txBody>
      </p:sp>
      <p:sp>
        <p:nvSpPr>
          <p:cNvPr id="26" name="problem-full-16">
            <a:extLst>
              <a:ext uri="{FF2B5EF4-FFF2-40B4-BE49-F238E27FC236}">
                <a16:creationId xmlns:a16="http://schemas.microsoft.com/office/drawing/2014/main" id="{21F1DFC9-57D6-4DA2-BD04-D699F4D9B816}"/>
              </a:ext>
            </a:extLst>
          </p:cNvPr>
          <p:cNvSpPr>
            <a:spLocks noGrp="1"/>
          </p:cNvSpPr>
          <p:nvPr/>
        </p:nvSpPr>
        <p:spPr>
          <a:xfrm>
            <a:off x="7943850" y="2390775"/>
            <a:ext cx="359092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Отказы из-за формальных</a:t>
            </a:r>
          </a:p>
        </p:txBody>
      </p:sp>
      <p:sp>
        <p:nvSpPr>
          <p:cNvPr id="27" name="problem-full-16">
            <a:extLst>
              <a:ext uri="{FF2B5EF4-FFF2-40B4-BE49-F238E27FC236}">
                <a16:creationId xmlns:a16="http://schemas.microsoft.com/office/drawing/2014/main" id="{92F9DC45-5A84-467C-AFA0-6FA55915A310}"/>
              </a:ext>
            </a:extLst>
          </p:cNvPr>
          <p:cNvSpPr>
            <a:spLocks noGrp="1"/>
          </p:cNvSpPr>
          <p:nvPr/>
        </p:nvSpPr>
        <p:spPr>
          <a:xfrm>
            <a:off x="7943850" y="2637979"/>
            <a:ext cx="359092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ошибок</a:t>
            </a:r>
          </a:p>
        </p:txBody>
      </p:sp>
      <p:sp>
        <p:nvSpPr>
          <p:cNvPr id="28" name="problem-full-17">
            <a:extLst>
              <a:ext uri="{FF2B5EF4-FFF2-40B4-BE49-F238E27FC236}">
                <a16:creationId xmlns:a16="http://schemas.microsoft.com/office/drawing/2014/main" id="{1D29ABAF-B9D4-4043-AD1B-198AAF93ECA1}"/>
              </a:ext>
            </a:extLst>
          </p:cNvPr>
          <p:cNvSpPr>
            <a:spLocks noGrp="1"/>
          </p:cNvSpPr>
          <p:nvPr/>
        </p:nvSpPr>
        <p:spPr>
          <a:xfrm>
            <a:off x="7943850" y="3000375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Неверный формат выписки ФНС или</a:t>
            </a:r>
          </a:p>
        </p:txBody>
      </p:sp>
      <p:sp>
        <p:nvSpPr>
          <p:cNvPr id="29" name="problem-full-17">
            <a:extLst>
              <a:ext uri="{FF2B5EF4-FFF2-40B4-BE49-F238E27FC236}">
                <a16:creationId xmlns:a16="http://schemas.microsoft.com/office/drawing/2014/main" id="{5B746F96-0688-4397-876F-F4A4874CE57D}"/>
              </a:ext>
            </a:extLst>
          </p:cNvPr>
          <p:cNvSpPr>
            <a:spLocks noGrp="1"/>
          </p:cNvSpPr>
          <p:nvPr/>
        </p:nvSpPr>
        <p:spPr>
          <a:xfrm>
            <a:off x="7943850" y="3225105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ошибка в расчётах ТЭО могут привести</a:t>
            </a:r>
          </a:p>
        </p:txBody>
      </p:sp>
      <p:sp>
        <p:nvSpPr>
          <p:cNvPr id="30" name="problem-full-17">
            <a:extLst>
              <a:ext uri="{FF2B5EF4-FFF2-40B4-BE49-F238E27FC236}">
                <a16:creationId xmlns:a16="http://schemas.microsoft.com/office/drawing/2014/main" id="{68188A66-C5F0-4F9A-B6CE-E3CF66E9FD0D}"/>
              </a:ext>
            </a:extLst>
          </p:cNvPr>
          <p:cNvSpPr>
            <a:spLocks noGrp="1"/>
          </p:cNvSpPr>
          <p:nvPr/>
        </p:nvSpPr>
        <p:spPr>
          <a:xfrm>
            <a:off x="7943850" y="3449836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к отклонению заявки. Бизнес теряет</a:t>
            </a:r>
          </a:p>
        </p:txBody>
      </p:sp>
      <p:sp>
        <p:nvSpPr>
          <p:cNvPr id="31" name="problem-full-17">
            <a:extLst>
              <a:ext uri="{FF2B5EF4-FFF2-40B4-BE49-F238E27FC236}">
                <a16:creationId xmlns:a16="http://schemas.microsoft.com/office/drawing/2014/main" id="{26F6FCE6-DB1B-4568-830E-D34AE0B4EBFE}"/>
              </a:ext>
            </a:extLst>
          </p:cNvPr>
          <p:cNvSpPr>
            <a:spLocks noGrp="1"/>
          </p:cNvSpPr>
          <p:nvPr/>
        </p:nvSpPr>
        <p:spPr>
          <a:xfrm>
            <a:off x="7943850" y="3674566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время на подготовку и доступ к</a:t>
            </a:r>
          </a:p>
        </p:txBody>
      </p:sp>
      <p:sp>
        <p:nvSpPr>
          <p:cNvPr id="32" name="problem-full-17">
            <a:extLst>
              <a:ext uri="{FF2B5EF4-FFF2-40B4-BE49-F238E27FC236}">
                <a16:creationId xmlns:a16="http://schemas.microsoft.com/office/drawing/2014/main" id="{3D0289EC-B613-4413-8682-4F099A7E9348}"/>
              </a:ext>
            </a:extLst>
          </p:cNvPr>
          <p:cNvSpPr>
            <a:spLocks noGrp="1"/>
          </p:cNvSpPr>
          <p:nvPr/>
        </p:nvSpPr>
        <p:spPr>
          <a:xfrm>
            <a:off x="7943850" y="3899297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финансированию в текущем отборе.</a:t>
            </a:r>
          </a:p>
        </p:txBody>
      </p:sp>
      <p:sp>
        <p:nvSpPr>
          <p:cNvPr id="33" name="problem-full-18">
            <a:extLst>
              <a:ext uri="{FF2B5EF4-FFF2-40B4-BE49-F238E27FC236}">
                <a16:creationId xmlns:a16="http://schemas.microsoft.com/office/drawing/2014/main" id="{918D7C6B-3CFB-4C4B-8867-C6733FE0DF65}"/>
              </a:ext>
            </a:extLst>
          </p:cNvPr>
          <p:cNvSpPr>
            <a:spLocks noGrp="1"/>
          </p:cNvSpPr>
          <p:nvPr/>
        </p:nvSpPr>
        <p:spPr>
          <a:xfrm>
            <a:off x="7943850" y="4305300"/>
            <a:ext cx="359092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Барьеры доведения бюджетных</a:t>
            </a:r>
          </a:p>
        </p:txBody>
      </p:sp>
      <p:sp>
        <p:nvSpPr>
          <p:cNvPr id="34" name="problem-full-18">
            <a:extLst>
              <a:ext uri="{FF2B5EF4-FFF2-40B4-BE49-F238E27FC236}">
                <a16:creationId xmlns:a16="http://schemas.microsoft.com/office/drawing/2014/main" id="{12D5C288-8730-4A27-A8C8-F9673E4F86C6}"/>
              </a:ext>
            </a:extLst>
          </p:cNvPr>
          <p:cNvSpPr>
            <a:spLocks noGrp="1"/>
          </p:cNvSpPr>
          <p:nvPr/>
        </p:nvSpPr>
        <p:spPr>
          <a:xfrm>
            <a:off x="7943850" y="4552504"/>
            <a:ext cx="359092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средств</a:t>
            </a:r>
          </a:p>
        </p:txBody>
      </p:sp>
      <p:sp>
        <p:nvSpPr>
          <p:cNvPr id="35" name="problem-full-19">
            <a:extLst>
              <a:ext uri="{FF2B5EF4-FFF2-40B4-BE49-F238E27FC236}">
                <a16:creationId xmlns:a16="http://schemas.microsoft.com/office/drawing/2014/main" id="{92E4A77A-DEC1-4D1E-8C55-BD840B2C1F03}"/>
              </a:ext>
            </a:extLst>
          </p:cNvPr>
          <p:cNvSpPr>
            <a:spLocks noGrp="1"/>
          </p:cNvSpPr>
          <p:nvPr/>
        </p:nvSpPr>
        <p:spPr>
          <a:xfrm>
            <a:off x="7943850" y="4914900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Сложные процедуры ограничивают</a:t>
            </a:r>
          </a:p>
        </p:txBody>
      </p:sp>
      <p:sp>
        <p:nvSpPr>
          <p:cNvPr id="36" name="problem-full-19">
            <a:extLst>
              <a:ext uri="{FF2B5EF4-FFF2-40B4-BE49-F238E27FC236}">
                <a16:creationId xmlns:a16="http://schemas.microsoft.com/office/drawing/2014/main" id="{0C710A29-D116-4B4B-95C1-96EE9A684ED7}"/>
              </a:ext>
            </a:extLst>
          </p:cNvPr>
          <p:cNvSpPr>
            <a:spLocks noGrp="1"/>
          </p:cNvSpPr>
          <p:nvPr/>
        </p:nvSpPr>
        <p:spPr>
          <a:xfrm>
            <a:off x="7943850" y="5139630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доступ к бюджетным программам.</a:t>
            </a:r>
          </a:p>
        </p:txBody>
      </p:sp>
      <p:sp>
        <p:nvSpPr>
          <p:cNvPr id="37" name="problem-full-19">
            <a:extLst>
              <a:ext uri="{FF2B5EF4-FFF2-40B4-BE49-F238E27FC236}">
                <a16:creationId xmlns:a16="http://schemas.microsoft.com/office/drawing/2014/main" id="{682E892F-76F6-49D2-AD2C-6B040A79D8FA}"/>
              </a:ext>
            </a:extLst>
          </p:cNvPr>
          <p:cNvSpPr>
            <a:spLocks noGrp="1"/>
          </p:cNvSpPr>
          <p:nvPr/>
        </p:nvSpPr>
        <p:spPr>
          <a:xfrm>
            <a:off x="7943850" y="5364361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Малый бизнес без юридического и GR-</a:t>
            </a:r>
          </a:p>
        </p:txBody>
      </p:sp>
      <p:sp>
        <p:nvSpPr>
          <p:cNvPr id="38" name="problem-full-19">
            <a:extLst>
              <a:ext uri="{FF2B5EF4-FFF2-40B4-BE49-F238E27FC236}">
                <a16:creationId xmlns:a16="http://schemas.microsoft.com/office/drawing/2014/main" id="{466A5123-FAFB-449E-BEDC-431B06832DA3}"/>
              </a:ext>
            </a:extLst>
          </p:cNvPr>
          <p:cNvSpPr>
            <a:spLocks noGrp="1"/>
          </p:cNvSpPr>
          <p:nvPr/>
        </p:nvSpPr>
        <p:spPr>
          <a:xfrm>
            <a:off x="7943850" y="5589091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сопровождения оказывается в</a:t>
            </a:r>
          </a:p>
        </p:txBody>
      </p:sp>
      <p:sp>
        <p:nvSpPr>
          <p:cNvPr id="39" name="problem-full-19">
            <a:extLst>
              <a:ext uri="{FF2B5EF4-FFF2-40B4-BE49-F238E27FC236}">
                <a16:creationId xmlns:a16="http://schemas.microsoft.com/office/drawing/2014/main" id="{7F1941C9-9991-41B0-8D5F-D5886D787AA6}"/>
              </a:ext>
            </a:extLst>
          </p:cNvPr>
          <p:cNvSpPr>
            <a:spLocks noGrp="1"/>
          </p:cNvSpPr>
          <p:nvPr/>
        </p:nvSpPr>
        <p:spPr>
          <a:xfrm>
            <a:off x="7943850" y="5813822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неравных условиях с компаниями,</a:t>
            </a:r>
          </a:p>
        </p:txBody>
      </p:sp>
      <p:sp>
        <p:nvSpPr>
          <p:cNvPr id="40" name="problem-full-19">
            <a:extLst>
              <a:ext uri="{FF2B5EF4-FFF2-40B4-BE49-F238E27FC236}">
                <a16:creationId xmlns:a16="http://schemas.microsoft.com/office/drawing/2014/main" id="{CF49940B-CEE2-4335-8AFF-6BA3F4E498C3}"/>
              </a:ext>
            </a:extLst>
          </p:cNvPr>
          <p:cNvSpPr>
            <a:spLocks noGrp="1"/>
          </p:cNvSpPr>
          <p:nvPr/>
        </p:nvSpPr>
        <p:spPr>
          <a:xfrm>
            <a:off x="7943850" y="6038552"/>
            <a:ext cx="35909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имеющими профильных специалистов.</a:t>
            </a:r>
          </a:p>
        </p:txBody>
      </p:sp>
      <p:sp>
        <p:nvSpPr>
          <p:cNvPr id="41" name="problem-full-23">
            <a:extLst>
              <a:ext uri="{FF2B5EF4-FFF2-40B4-BE49-F238E27FC236}">
                <a16:creationId xmlns:a16="http://schemas.microsoft.com/office/drawing/2014/main" id="{90E1FBFB-1404-47C6-BFB0-30565CB63A54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736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al-full-4">
            <a:extLst>
              <a:ext uri="{FF2B5EF4-FFF2-40B4-BE49-F238E27FC236}">
                <a16:creationId xmlns:a16="http://schemas.microsoft.com/office/drawing/2014/main" id="{586C2A78-F4FC-4CEF-8286-C69B399D52EF}"/>
              </a:ext>
            </a:extLst>
          </p:cNvPr>
          <p:cNvSpPr>
            <a:spLocks noGrp="1"/>
          </p:cNvSpPr>
          <p:nvPr/>
        </p:nvSpPr>
        <p:spPr>
          <a:xfrm>
            <a:off x="457200" y="2045239"/>
            <a:ext cx="5524500" cy="1480750"/>
          </a:xfrm>
          <a:prstGeom prst="roundRect">
            <a:avLst>
              <a:gd name="adj" fmla="val 13636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3" name="goal-full-8">
            <a:extLst>
              <a:ext uri="{FF2B5EF4-FFF2-40B4-BE49-F238E27FC236}">
                <a16:creationId xmlns:a16="http://schemas.microsoft.com/office/drawing/2014/main" id="{8F1D68B0-19EF-426E-8121-94FB37FDF1BC}"/>
              </a:ext>
            </a:extLst>
          </p:cNvPr>
          <p:cNvSpPr>
            <a:spLocks noGrp="1"/>
          </p:cNvSpPr>
          <p:nvPr/>
        </p:nvSpPr>
        <p:spPr>
          <a:xfrm>
            <a:off x="6224587" y="2050621"/>
            <a:ext cx="5524500" cy="1493636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0">
            <a:noFill/>
          </a:ln>
        </p:spPr>
      </p:sp>
      <p:sp>
        <p:nvSpPr>
          <p:cNvPr id="4" name="goal-full-12">
            <a:extLst>
              <a:ext uri="{FF2B5EF4-FFF2-40B4-BE49-F238E27FC236}">
                <a16:creationId xmlns:a16="http://schemas.microsoft.com/office/drawing/2014/main" id="{05695FD6-0EAA-49D1-8674-854758E157C4}"/>
              </a:ext>
            </a:extLst>
          </p:cNvPr>
          <p:cNvSpPr>
            <a:spLocks noGrp="1"/>
          </p:cNvSpPr>
          <p:nvPr/>
        </p:nvSpPr>
        <p:spPr>
          <a:xfrm>
            <a:off x="457200" y="3627112"/>
            <a:ext cx="5524500" cy="1421529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0">
            <a:noFill/>
          </a:ln>
        </p:spPr>
      </p:sp>
      <p:sp>
        <p:nvSpPr>
          <p:cNvPr id="5" name="goal-full-16">
            <a:extLst>
              <a:ext uri="{FF2B5EF4-FFF2-40B4-BE49-F238E27FC236}">
                <a16:creationId xmlns:a16="http://schemas.microsoft.com/office/drawing/2014/main" id="{7A9B695A-3B88-473A-9244-514BA872A900}"/>
              </a:ext>
            </a:extLst>
          </p:cNvPr>
          <p:cNvSpPr>
            <a:spLocks noGrp="1"/>
          </p:cNvSpPr>
          <p:nvPr/>
        </p:nvSpPr>
        <p:spPr>
          <a:xfrm>
            <a:off x="6210300" y="3635797"/>
            <a:ext cx="5524500" cy="1412844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0">
            <a:noFill/>
          </a:ln>
        </p:spPr>
      </p:sp>
      <p:sp>
        <p:nvSpPr>
          <p:cNvPr id="6" name="goal-full-20">
            <a:extLst>
              <a:ext uri="{FF2B5EF4-FFF2-40B4-BE49-F238E27FC236}">
                <a16:creationId xmlns:a16="http://schemas.microsoft.com/office/drawing/2014/main" id="{D94AB504-773C-4885-BCCD-370FBAE2E2E3}"/>
              </a:ext>
            </a:extLst>
          </p:cNvPr>
          <p:cNvSpPr>
            <a:spLocks noGrp="1"/>
          </p:cNvSpPr>
          <p:nvPr/>
        </p:nvSpPr>
        <p:spPr>
          <a:xfrm>
            <a:off x="451275" y="5890821"/>
            <a:ext cx="11277600" cy="597646"/>
          </a:xfrm>
          <a:prstGeom prst="roundRect">
            <a:avLst>
              <a:gd name="adj" fmla="val 31579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7" name="goal-full-23">
            <a:extLst>
              <a:ext uri="{FF2B5EF4-FFF2-40B4-BE49-F238E27FC236}">
                <a16:creationId xmlns:a16="http://schemas.microsoft.com/office/drawing/2014/main" id="{A8233FC9-DE02-40A9-A051-A92F328AEBFC}"/>
              </a:ext>
            </a:extLst>
          </p:cNvPr>
          <p:cNvSpPr>
            <a:spLocks noGrp="1"/>
          </p:cNvSpPr>
          <p:nvPr/>
        </p:nvSpPr>
        <p:spPr>
          <a:xfrm>
            <a:off x="453483" y="6595733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8" name="goal-full-1">
            <a:extLst>
              <a:ext uri="{FF2B5EF4-FFF2-40B4-BE49-F238E27FC236}">
                <a16:creationId xmlns:a16="http://schemas.microsoft.com/office/drawing/2014/main" id="{986F81DE-0E25-4E4E-9C05-E018ED565F92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3061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al-full-2">
            <a:extLst>
              <a:ext uri="{FF2B5EF4-FFF2-40B4-BE49-F238E27FC236}">
                <a16:creationId xmlns:a16="http://schemas.microsoft.com/office/drawing/2014/main" id="{CE2BED67-6BD8-47C7-9481-63D4D4ECB475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306175" cy="4451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Цель проекта и стратегические задачи</a:t>
            </a:r>
          </a:p>
        </p:txBody>
      </p:sp>
      <p:sp>
        <p:nvSpPr>
          <p:cNvPr id="10" name="goal-full-3">
            <a:extLst>
              <a:ext uri="{FF2B5EF4-FFF2-40B4-BE49-F238E27FC236}">
                <a16:creationId xmlns:a16="http://schemas.microsoft.com/office/drawing/2014/main" id="{95E1A68F-F5E5-4F47-9017-485C1209D726}"/>
              </a:ext>
            </a:extLst>
          </p:cNvPr>
          <p:cNvSpPr>
            <a:spLocks noGrp="1"/>
          </p:cNvSpPr>
          <p:nvPr/>
        </p:nvSpPr>
        <p:spPr>
          <a:xfrm>
            <a:off x="457200" y="1438275"/>
            <a:ext cx="11306175" cy="541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650" dirty="0">
                <a:solidFill>
                  <a:srgbClr val="41424B"/>
                </a:solidFill>
                <a:latin typeface="Arial"/>
              </a:rPr>
              <a:t>Интеллектуальная платформа для анализа профиля бизнеса, подбора релевантных мер поддержки и</a:t>
            </a:r>
            <a:br>
              <a:rPr lang="ru-RU" sz="1650" dirty="0">
                <a:solidFill>
                  <a:srgbClr val="41424B"/>
                </a:solidFill>
                <a:latin typeface="Arial"/>
              </a:rPr>
            </a:br>
            <a:r>
              <a:rPr lang="ru-RU" sz="1650" dirty="0">
                <a:solidFill>
                  <a:srgbClr val="41424B"/>
                </a:solidFill>
                <a:latin typeface="Arial"/>
              </a:rPr>
              <a:t>сопровождения предпринимателя от поиска возможности до подготовки заявки.</a:t>
            </a:r>
            <a:endParaRPr sz="16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al-full-5">
            <a:extLst>
              <a:ext uri="{FF2B5EF4-FFF2-40B4-BE49-F238E27FC236}">
                <a16:creationId xmlns:a16="http://schemas.microsoft.com/office/drawing/2014/main" id="{3BE09959-C7B2-4702-A3F0-19BF3006E5A0}"/>
              </a:ext>
            </a:extLst>
          </p:cNvPr>
          <p:cNvSpPr>
            <a:spLocks noGrp="1"/>
          </p:cNvSpPr>
          <p:nvPr/>
        </p:nvSpPr>
        <p:spPr>
          <a:xfrm>
            <a:off x="647700" y="2155981"/>
            <a:ext cx="400050" cy="238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goal-full-6">
            <a:extLst>
              <a:ext uri="{FF2B5EF4-FFF2-40B4-BE49-F238E27FC236}">
                <a16:creationId xmlns:a16="http://schemas.microsoft.com/office/drawing/2014/main" id="{C5392985-0FD6-41BC-8714-3E10F6746DB3}"/>
              </a:ext>
            </a:extLst>
          </p:cNvPr>
          <p:cNvSpPr>
            <a:spLocks noGrp="1"/>
          </p:cNvSpPr>
          <p:nvPr/>
        </p:nvSpPr>
        <p:spPr>
          <a:xfrm>
            <a:off x="1095375" y="2155981"/>
            <a:ext cx="4724400" cy="238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Ликвидация информационного вакуума</a:t>
            </a:r>
          </a:p>
        </p:txBody>
      </p:sp>
      <p:sp>
        <p:nvSpPr>
          <p:cNvPr id="14" name="goal-full-7">
            <a:extLst>
              <a:ext uri="{FF2B5EF4-FFF2-40B4-BE49-F238E27FC236}">
                <a16:creationId xmlns:a16="http://schemas.microsoft.com/office/drawing/2014/main" id="{EE349C6B-F9B8-4584-A7C1-85DCF62C314F}"/>
              </a:ext>
            </a:extLst>
          </p:cNvPr>
          <p:cNvSpPr>
            <a:spLocks noGrp="1"/>
          </p:cNvSpPr>
          <p:nvPr/>
        </p:nvSpPr>
        <p:spPr>
          <a:xfrm>
            <a:off x="647700" y="2525940"/>
            <a:ext cx="5172075" cy="2069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Исключить ручной мониторинг сотен сайтов ведомств. По</a:t>
            </a:r>
          </a:p>
        </p:txBody>
      </p:sp>
      <p:sp>
        <p:nvSpPr>
          <p:cNvPr id="15" name="goal-full-7">
            <a:extLst>
              <a:ext uri="{FF2B5EF4-FFF2-40B4-BE49-F238E27FC236}">
                <a16:creationId xmlns:a16="http://schemas.microsoft.com/office/drawing/2014/main" id="{E0B69771-7882-477C-80BA-7F6E955BE77A}"/>
              </a:ext>
            </a:extLst>
          </p:cNvPr>
          <p:cNvSpPr>
            <a:spLocks noGrp="1"/>
          </p:cNvSpPr>
          <p:nvPr/>
        </p:nvSpPr>
        <p:spPr>
          <a:xfrm>
            <a:off x="647700" y="2750670"/>
            <a:ext cx="5172075" cy="2069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одному ИНН автоматически загружать доступные</a:t>
            </a:r>
          </a:p>
        </p:txBody>
      </p:sp>
      <p:sp>
        <p:nvSpPr>
          <p:cNvPr id="16" name="goal-full-7">
            <a:extLst>
              <a:ext uri="{FF2B5EF4-FFF2-40B4-BE49-F238E27FC236}">
                <a16:creationId xmlns:a16="http://schemas.microsoft.com/office/drawing/2014/main" id="{902A44AF-B961-45DC-A9FC-7B957B08C2AA}"/>
              </a:ext>
            </a:extLst>
          </p:cNvPr>
          <p:cNvSpPr>
            <a:spLocks noGrp="1"/>
          </p:cNvSpPr>
          <p:nvPr/>
        </p:nvSpPr>
        <p:spPr>
          <a:xfrm>
            <a:off x="647700" y="2975401"/>
            <a:ext cx="5172075" cy="2069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сведения о компании и выполнять ИИ-скоринг мер</a:t>
            </a:r>
          </a:p>
        </p:txBody>
      </p:sp>
      <p:sp>
        <p:nvSpPr>
          <p:cNvPr id="17" name="goal-full-7">
            <a:extLst>
              <a:ext uri="{FF2B5EF4-FFF2-40B4-BE49-F238E27FC236}">
                <a16:creationId xmlns:a16="http://schemas.microsoft.com/office/drawing/2014/main" id="{5E18EDDC-25B0-4DC3-997E-80F63E77B632}"/>
              </a:ext>
            </a:extLst>
          </p:cNvPr>
          <p:cNvSpPr>
            <a:spLocks noGrp="1"/>
          </p:cNvSpPr>
          <p:nvPr/>
        </p:nvSpPr>
        <p:spPr>
          <a:xfrm>
            <a:off x="647700" y="3200131"/>
            <a:ext cx="5172075" cy="2069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поддержки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её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профиль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критерии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участия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" name="goal-full-9">
            <a:extLst>
              <a:ext uri="{FF2B5EF4-FFF2-40B4-BE49-F238E27FC236}">
                <a16:creationId xmlns:a16="http://schemas.microsoft.com/office/drawing/2014/main" id="{B80ED076-FCF4-4A3C-AEB5-8D2F5E7C602D}"/>
              </a:ext>
            </a:extLst>
          </p:cNvPr>
          <p:cNvSpPr>
            <a:spLocks noGrp="1"/>
          </p:cNvSpPr>
          <p:nvPr/>
        </p:nvSpPr>
        <p:spPr>
          <a:xfrm>
            <a:off x="6400800" y="2151744"/>
            <a:ext cx="40005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goal-full-10">
            <a:extLst>
              <a:ext uri="{FF2B5EF4-FFF2-40B4-BE49-F238E27FC236}">
                <a16:creationId xmlns:a16="http://schemas.microsoft.com/office/drawing/2014/main" id="{6F9FD3B1-6938-4D89-AA74-67F2E34DE376}"/>
              </a:ext>
            </a:extLst>
          </p:cNvPr>
          <p:cNvSpPr>
            <a:spLocks noGrp="1"/>
          </p:cNvSpPr>
          <p:nvPr/>
        </p:nvSpPr>
        <p:spPr>
          <a:xfrm>
            <a:off x="6848475" y="2151744"/>
            <a:ext cx="4724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Снижение административного барьера</a:t>
            </a:r>
          </a:p>
        </p:txBody>
      </p:sp>
      <p:sp>
        <p:nvSpPr>
          <p:cNvPr id="20" name="goal-full-11">
            <a:extLst>
              <a:ext uri="{FF2B5EF4-FFF2-40B4-BE49-F238E27FC236}">
                <a16:creationId xmlns:a16="http://schemas.microsoft.com/office/drawing/2014/main" id="{76B33FEE-4D2F-48FC-89BE-C9A572828F64}"/>
              </a:ext>
            </a:extLst>
          </p:cNvPr>
          <p:cNvSpPr>
            <a:spLocks noGrp="1"/>
          </p:cNvSpPr>
          <p:nvPr/>
        </p:nvSpPr>
        <p:spPr>
          <a:xfrm>
            <a:off x="6400800" y="2523219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Заменить дорогостоящий юридический консалтинг</a:t>
            </a:r>
          </a:p>
        </p:txBody>
      </p:sp>
      <p:sp>
        <p:nvSpPr>
          <p:cNvPr id="21" name="goal-full-11">
            <a:extLst>
              <a:ext uri="{FF2B5EF4-FFF2-40B4-BE49-F238E27FC236}">
                <a16:creationId xmlns:a16="http://schemas.microsoft.com/office/drawing/2014/main" id="{C13FF2DE-E5C2-4312-8216-09E87ADF9B33}"/>
              </a:ext>
            </a:extLst>
          </p:cNvPr>
          <p:cNvSpPr>
            <a:spLocks noGrp="1"/>
          </p:cNvSpPr>
          <p:nvPr/>
        </p:nvSpPr>
        <p:spPr>
          <a:xfrm>
            <a:off x="6400800" y="2747949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интерактивным ИИ-ассистентом, который переводит</a:t>
            </a:r>
          </a:p>
        </p:txBody>
      </p:sp>
      <p:sp>
        <p:nvSpPr>
          <p:cNvPr id="22" name="goal-full-11">
            <a:extLst>
              <a:ext uri="{FF2B5EF4-FFF2-40B4-BE49-F238E27FC236}">
                <a16:creationId xmlns:a16="http://schemas.microsoft.com/office/drawing/2014/main" id="{1EE9D132-B5F3-4953-BA39-65DF842149AB}"/>
              </a:ext>
            </a:extLst>
          </p:cNvPr>
          <p:cNvSpPr>
            <a:spLocks noGrp="1"/>
          </p:cNvSpPr>
          <p:nvPr/>
        </p:nvSpPr>
        <p:spPr>
          <a:xfrm>
            <a:off x="6400800" y="2972680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сложные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юридические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требования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документов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на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al-full-11">
            <a:extLst>
              <a:ext uri="{FF2B5EF4-FFF2-40B4-BE49-F238E27FC236}">
                <a16:creationId xmlns:a16="http://schemas.microsoft.com/office/drawing/2014/main" id="{3B6450C7-E11E-40CE-AE7F-06A529210271}"/>
              </a:ext>
            </a:extLst>
          </p:cNvPr>
          <p:cNvSpPr>
            <a:spLocks noGrp="1"/>
          </p:cNvSpPr>
          <p:nvPr/>
        </p:nvSpPr>
        <p:spPr>
          <a:xfrm>
            <a:off x="6400800" y="3197410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понятный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бизнесу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язык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4" name="goal-full-13">
            <a:extLst>
              <a:ext uri="{FF2B5EF4-FFF2-40B4-BE49-F238E27FC236}">
                <a16:creationId xmlns:a16="http://schemas.microsoft.com/office/drawing/2014/main" id="{1B1C30DA-874A-4FBF-A445-CB315C247179}"/>
              </a:ext>
            </a:extLst>
          </p:cNvPr>
          <p:cNvSpPr>
            <a:spLocks noGrp="1"/>
          </p:cNvSpPr>
          <p:nvPr/>
        </p:nvSpPr>
        <p:spPr>
          <a:xfrm>
            <a:off x="647700" y="3674956"/>
            <a:ext cx="40005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goal-full-14">
            <a:extLst>
              <a:ext uri="{FF2B5EF4-FFF2-40B4-BE49-F238E27FC236}">
                <a16:creationId xmlns:a16="http://schemas.microsoft.com/office/drawing/2014/main" id="{3178C26D-4661-4EED-9B5C-4270E6E4CACE}"/>
              </a:ext>
            </a:extLst>
          </p:cNvPr>
          <p:cNvSpPr>
            <a:spLocks noGrp="1"/>
          </p:cNvSpPr>
          <p:nvPr/>
        </p:nvSpPr>
        <p:spPr>
          <a:xfrm>
            <a:off x="1095375" y="3674956"/>
            <a:ext cx="4724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Минимизация отказов из-за ошибок</a:t>
            </a:r>
          </a:p>
        </p:txBody>
      </p:sp>
      <p:sp>
        <p:nvSpPr>
          <p:cNvPr id="26" name="goal-full-15">
            <a:extLst>
              <a:ext uri="{FF2B5EF4-FFF2-40B4-BE49-F238E27FC236}">
                <a16:creationId xmlns:a16="http://schemas.microsoft.com/office/drawing/2014/main" id="{E93408C8-1E50-44A0-8D8D-B63BA8E8E767}"/>
              </a:ext>
            </a:extLst>
          </p:cNvPr>
          <p:cNvSpPr>
            <a:spLocks noGrp="1"/>
          </p:cNvSpPr>
          <p:nvPr/>
        </p:nvSpPr>
        <p:spPr>
          <a:xfrm>
            <a:off x="647700" y="4046431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Стремиться к нулю отказов по причинам оформления:</a:t>
            </a:r>
          </a:p>
        </p:txBody>
      </p:sp>
      <p:sp>
        <p:nvSpPr>
          <p:cNvPr id="27" name="goal-full-15">
            <a:extLst>
              <a:ext uri="{FF2B5EF4-FFF2-40B4-BE49-F238E27FC236}">
                <a16:creationId xmlns:a16="http://schemas.microsoft.com/office/drawing/2014/main" id="{8672D7DF-C15F-4E16-A1D2-273D1D2F8F1C}"/>
              </a:ext>
            </a:extLst>
          </p:cNvPr>
          <p:cNvSpPr>
            <a:spLocks noGrp="1"/>
          </p:cNvSpPr>
          <p:nvPr/>
        </p:nvSpPr>
        <p:spPr>
          <a:xfrm>
            <a:off x="647700" y="4271161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автоматизировать сбор данных и заполнение форм,</a:t>
            </a:r>
          </a:p>
        </p:txBody>
      </p:sp>
      <p:sp>
        <p:nvSpPr>
          <p:cNvPr id="28" name="goal-full-15">
            <a:extLst>
              <a:ext uri="{FF2B5EF4-FFF2-40B4-BE49-F238E27FC236}">
                <a16:creationId xmlns:a16="http://schemas.microsoft.com/office/drawing/2014/main" id="{FA16DE50-26BC-4B67-AA97-3D65EA0A4F44}"/>
              </a:ext>
            </a:extLst>
          </p:cNvPr>
          <p:cNvSpPr>
            <a:spLocks noGrp="1"/>
          </p:cNvSpPr>
          <p:nvPr/>
        </p:nvSpPr>
        <p:spPr>
          <a:xfrm>
            <a:off x="647700" y="4495892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снизить человеческий фактор, внедрить ИИ-валидацию</a:t>
            </a:r>
          </a:p>
        </p:txBody>
      </p:sp>
      <p:sp>
        <p:nvSpPr>
          <p:cNvPr id="29" name="goal-full-15">
            <a:extLst>
              <a:ext uri="{FF2B5EF4-FFF2-40B4-BE49-F238E27FC236}">
                <a16:creationId xmlns:a16="http://schemas.microsoft.com/office/drawing/2014/main" id="{1373E12C-45EA-4808-BE33-225B18245CFF}"/>
              </a:ext>
            </a:extLst>
          </p:cNvPr>
          <p:cNvSpPr>
            <a:spLocks noGrp="1"/>
          </p:cNvSpPr>
          <p:nvPr/>
        </p:nvSpPr>
        <p:spPr>
          <a:xfrm>
            <a:off x="647700" y="4720622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документов перед отправкой в ведомство.</a:t>
            </a:r>
          </a:p>
        </p:txBody>
      </p:sp>
      <p:sp>
        <p:nvSpPr>
          <p:cNvPr id="30" name="goal-full-17">
            <a:extLst>
              <a:ext uri="{FF2B5EF4-FFF2-40B4-BE49-F238E27FC236}">
                <a16:creationId xmlns:a16="http://schemas.microsoft.com/office/drawing/2014/main" id="{03AAB9F9-86D1-4445-ABF1-43C5A41BCB81}"/>
              </a:ext>
            </a:extLst>
          </p:cNvPr>
          <p:cNvSpPr>
            <a:spLocks noGrp="1"/>
          </p:cNvSpPr>
          <p:nvPr/>
        </p:nvSpPr>
        <p:spPr>
          <a:xfrm>
            <a:off x="6400800" y="3674956"/>
            <a:ext cx="40005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goal-full-18">
            <a:extLst>
              <a:ext uri="{FF2B5EF4-FFF2-40B4-BE49-F238E27FC236}">
                <a16:creationId xmlns:a16="http://schemas.microsoft.com/office/drawing/2014/main" id="{EEB1459A-BFFB-4563-8E9F-42438676A599}"/>
              </a:ext>
            </a:extLst>
          </p:cNvPr>
          <p:cNvSpPr>
            <a:spLocks noGrp="1"/>
          </p:cNvSpPr>
          <p:nvPr/>
        </p:nvSpPr>
        <p:spPr>
          <a:xfrm>
            <a:off x="6848475" y="3674956"/>
            <a:ext cx="472440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Проактивное</a:t>
            </a:r>
            <a:r>
              <a:rPr sz="17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сопровождение</a:t>
            </a:r>
            <a:endParaRPr sz="1725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al-full-19">
            <a:extLst>
              <a:ext uri="{FF2B5EF4-FFF2-40B4-BE49-F238E27FC236}">
                <a16:creationId xmlns:a16="http://schemas.microsoft.com/office/drawing/2014/main" id="{4D9967B6-9122-46D1-9832-2057819216B8}"/>
              </a:ext>
            </a:extLst>
          </p:cNvPr>
          <p:cNvSpPr>
            <a:spLocks noGrp="1"/>
          </p:cNvSpPr>
          <p:nvPr/>
        </p:nvSpPr>
        <p:spPr>
          <a:xfrm>
            <a:off x="6400800" y="4046431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Создать систему долгосрочного трекинга: автоматически</a:t>
            </a:r>
          </a:p>
        </p:txBody>
      </p:sp>
      <p:sp>
        <p:nvSpPr>
          <p:cNvPr id="33" name="goal-full-19">
            <a:extLst>
              <a:ext uri="{FF2B5EF4-FFF2-40B4-BE49-F238E27FC236}">
                <a16:creationId xmlns:a16="http://schemas.microsoft.com/office/drawing/2014/main" id="{A58014AA-64D1-4F1E-B897-1E6693CCC108}"/>
              </a:ext>
            </a:extLst>
          </p:cNvPr>
          <p:cNvSpPr>
            <a:spLocks noGrp="1"/>
          </p:cNvSpPr>
          <p:nvPr/>
        </p:nvSpPr>
        <p:spPr>
          <a:xfrm>
            <a:off x="6400800" y="4271161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находить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новые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субсидии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профиль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компании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34" name="goal-full-19">
            <a:extLst>
              <a:ext uri="{FF2B5EF4-FFF2-40B4-BE49-F238E27FC236}">
                <a16:creationId xmlns:a16="http://schemas.microsoft.com/office/drawing/2014/main" id="{1396094C-D147-4228-A143-C54402497AE3}"/>
              </a:ext>
            </a:extLst>
          </p:cNvPr>
          <p:cNvSpPr>
            <a:spLocks noGrp="1"/>
          </p:cNvSpPr>
          <p:nvPr/>
        </p:nvSpPr>
        <p:spPr>
          <a:xfrm>
            <a:off x="6400800" y="4495892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оценивать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их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пользу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присылать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готовые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рекомендации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35" name="goal-full-19">
            <a:extLst>
              <a:ext uri="{FF2B5EF4-FFF2-40B4-BE49-F238E27FC236}">
                <a16:creationId xmlns:a16="http://schemas.microsoft.com/office/drawing/2014/main" id="{7B4C84FD-2AF4-4A1E-931D-0FD4D4A1C281}"/>
              </a:ext>
            </a:extLst>
          </p:cNvPr>
          <p:cNvSpPr>
            <a:spLocks noGrp="1"/>
          </p:cNvSpPr>
          <p:nvPr/>
        </p:nvSpPr>
        <p:spPr>
          <a:xfrm>
            <a:off x="6400800" y="4720622"/>
            <a:ext cx="517207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не дожидаясь самостоятельного поиска.</a:t>
            </a:r>
          </a:p>
        </p:txBody>
      </p:sp>
      <p:sp>
        <p:nvSpPr>
          <p:cNvPr id="36" name="goal-full-21">
            <a:extLst>
              <a:ext uri="{FF2B5EF4-FFF2-40B4-BE49-F238E27FC236}">
                <a16:creationId xmlns:a16="http://schemas.microsoft.com/office/drawing/2014/main" id="{3B4FE52B-C19E-4A73-84CD-35B664972446}"/>
              </a:ext>
            </a:extLst>
          </p:cNvPr>
          <p:cNvSpPr>
            <a:spLocks noGrp="1"/>
          </p:cNvSpPr>
          <p:nvPr/>
        </p:nvSpPr>
        <p:spPr>
          <a:xfrm>
            <a:off x="666750" y="5918107"/>
            <a:ext cx="220027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Ценность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al-full-21">
            <a:extLst>
              <a:ext uri="{FF2B5EF4-FFF2-40B4-BE49-F238E27FC236}">
                <a16:creationId xmlns:a16="http://schemas.microsoft.com/office/drawing/2014/main" id="{61607B25-59FB-4448-AB6E-73F281A29B0C}"/>
              </a:ext>
            </a:extLst>
          </p:cNvPr>
          <p:cNvSpPr>
            <a:spLocks noGrp="1"/>
          </p:cNvSpPr>
          <p:nvPr/>
        </p:nvSpPr>
        <p:spPr>
          <a:xfrm>
            <a:off x="666750" y="6165311"/>
            <a:ext cx="220027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банка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al-full-22">
            <a:extLst>
              <a:ext uri="{FF2B5EF4-FFF2-40B4-BE49-F238E27FC236}">
                <a16:creationId xmlns:a16="http://schemas.microsoft.com/office/drawing/2014/main" id="{C12C0BBD-BF71-40AA-BAAF-CFCCB598D86F}"/>
              </a:ext>
            </a:extLst>
          </p:cNvPr>
          <p:cNvSpPr>
            <a:spLocks noGrp="1"/>
          </p:cNvSpPr>
          <p:nvPr/>
        </p:nvSpPr>
        <p:spPr>
          <a:xfrm>
            <a:off x="3086100" y="5973597"/>
            <a:ext cx="8439150" cy="5049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lang="ru-RU" sz="1500" dirty="0">
                <a:solidFill>
                  <a:srgbClr val="E7E4ED"/>
                </a:solidFill>
                <a:latin typeface="Arial"/>
              </a:rPr>
              <a:t>Возможность встроить подбор мер поддержки в клиентский путь МСП и дополнить </a:t>
            </a:r>
            <a:br>
              <a:rPr lang="ru-RU" sz="1500" dirty="0">
                <a:solidFill>
                  <a:srgbClr val="E7E4ED"/>
                </a:solidFill>
                <a:latin typeface="Arial"/>
              </a:rPr>
            </a:br>
            <a:r>
              <a:rPr lang="ru-RU" sz="1500" dirty="0">
                <a:solidFill>
                  <a:srgbClr val="E7E4ED"/>
                </a:solidFill>
                <a:latin typeface="Arial"/>
              </a:rPr>
              <a:t>собственные финансовые продукты внешними инструментами финансирования.</a:t>
            </a:r>
            <a:endParaRPr sz="1500" b="0" dirty="0">
              <a:solidFill>
                <a:srgbClr val="E7E4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goal-full-26">
            <a:extLst>
              <a:ext uri="{FF2B5EF4-FFF2-40B4-BE49-F238E27FC236}">
                <a16:creationId xmlns:a16="http://schemas.microsoft.com/office/drawing/2014/main" id="{76598FCA-8FE9-4A1B-A521-4E8F4345D59D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3" name="goal-full-20">
            <a:extLst>
              <a:ext uri="{FF2B5EF4-FFF2-40B4-BE49-F238E27FC236}">
                <a16:creationId xmlns:a16="http://schemas.microsoft.com/office/drawing/2014/main" id="{153FABB6-156D-FAC4-9385-69D48B84D584}"/>
              </a:ext>
            </a:extLst>
          </p:cNvPr>
          <p:cNvSpPr>
            <a:spLocks noGrp="1"/>
          </p:cNvSpPr>
          <p:nvPr/>
        </p:nvSpPr>
        <p:spPr>
          <a:xfrm>
            <a:off x="457200" y="5159289"/>
            <a:ext cx="11277600" cy="622450"/>
          </a:xfrm>
          <a:prstGeom prst="roundRect">
            <a:avLst>
              <a:gd name="adj" fmla="val 31579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44" name="goal-full-21">
            <a:extLst>
              <a:ext uri="{FF2B5EF4-FFF2-40B4-BE49-F238E27FC236}">
                <a16:creationId xmlns:a16="http://schemas.microsoft.com/office/drawing/2014/main" id="{295E1883-F39F-477B-E718-4A19308E86DB}"/>
              </a:ext>
            </a:extLst>
          </p:cNvPr>
          <p:cNvSpPr>
            <a:spLocks noGrp="1"/>
          </p:cNvSpPr>
          <p:nvPr/>
        </p:nvSpPr>
        <p:spPr>
          <a:xfrm>
            <a:off x="666750" y="5233596"/>
            <a:ext cx="220027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Ценность для</a:t>
            </a:r>
          </a:p>
        </p:txBody>
      </p:sp>
      <p:sp>
        <p:nvSpPr>
          <p:cNvPr id="45" name="goal-full-21">
            <a:extLst>
              <a:ext uri="{FF2B5EF4-FFF2-40B4-BE49-F238E27FC236}">
                <a16:creationId xmlns:a16="http://schemas.microsoft.com/office/drawing/2014/main" id="{A1301D71-421F-C9D8-045F-58F5532378AA}"/>
              </a:ext>
            </a:extLst>
          </p:cNvPr>
          <p:cNvSpPr>
            <a:spLocks noGrp="1"/>
          </p:cNvSpPr>
          <p:nvPr/>
        </p:nvSpPr>
        <p:spPr>
          <a:xfrm>
            <a:off x="666750" y="5480800"/>
            <a:ext cx="2200275" cy="2577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предпринимателя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goal-full-22">
            <a:extLst>
              <a:ext uri="{FF2B5EF4-FFF2-40B4-BE49-F238E27FC236}">
                <a16:creationId xmlns:a16="http://schemas.microsoft.com/office/drawing/2014/main" id="{D74B5F07-3666-3B67-1ACA-2B07CE41B67F}"/>
              </a:ext>
            </a:extLst>
          </p:cNvPr>
          <p:cNvSpPr>
            <a:spLocks noGrp="1"/>
          </p:cNvSpPr>
          <p:nvPr/>
        </p:nvSpPr>
        <p:spPr>
          <a:xfrm>
            <a:off x="3086100" y="5233596"/>
            <a:ext cx="8439150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Целевой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путь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«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в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4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клика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»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вместо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недель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бюрократии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.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Ожидаемый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эффект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—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экономия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сотен</a:t>
            </a:r>
            <a:endParaRPr sz="1500" b="0" dirty="0">
              <a:solidFill>
                <a:srgbClr val="E7E4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goal-full-22">
            <a:extLst>
              <a:ext uri="{FF2B5EF4-FFF2-40B4-BE49-F238E27FC236}">
                <a16:creationId xmlns:a16="http://schemas.microsoft.com/office/drawing/2014/main" id="{9BBFD0F9-C649-4B45-AA78-D5C643B23D00}"/>
              </a:ext>
            </a:extLst>
          </p:cNvPr>
          <p:cNvSpPr>
            <a:spLocks noGrp="1"/>
          </p:cNvSpPr>
          <p:nvPr/>
        </p:nvSpPr>
        <p:spPr>
          <a:xfrm>
            <a:off x="3086100" y="5458326"/>
            <a:ext cx="8439150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часов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работы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миллионов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рублей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упущенной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выгоды</a:t>
            </a:r>
            <a:r>
              <a:rPr sz="1500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81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5-7">
            <a:extLst>
              <a:ext uri="{FF2B5EF4-FFF2-40B4-BE49-F238E27FC236}">
                <a16:creationId xmlns:a16="http://schemas.microsoft.com/office/drawing/2014/main" id="{27CC07B0-04B0-4D2C-AA45-A7EC29A8343C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5-10">
            <a:extLst>
              <a:ext uri="{FF2B5EF4-FFF2-40B4-BE49-F238E27FC236}">
                <a16:creationId xmlns:a16="http://schemas.microsoft.com/office/drawing/2014/main" id="{F8434A03-B7AF-45F4-B34E-9D2F93E62174}"/>
              </a:ext>
            </a:extLst>
          </p:cNvPr>
          <p:cNvSpPr>
            <a:spLocks noGrp="1"/>
          </p:cNvSpPr>
          <p:nvPr/>
        </p:nvSpPr>
        <p:spPr>
          <a:xfrm>
            <a:off x="457200" y="1819275"/>
            <a:ext cx="2163337" cy="1066800"/>
          </a:xfrm>
          <a:prstGeom prst="roundRect">
            <a:avLst>
              <a:gd name="adj" fmla="val 21429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4" name="refined-req-5-13">
            <a:extLst>
              <a:ext uri="{FF2B5EF4-FFF2-40B4-BE49-F238E27FC236}">
                <a16:creationId xmlns:a16="http://schemas.microsoft.com/office/drawing/2014/main" id="{2C54ABE4-3376-45BB-820B-F95B858BD643}"/>
              </a:ext>
            </a:extLst>
          </p:cNvPr>
          <p:cNvSpPr>
            <a:spLocks noGrp="1"/>
          </p:cNvSpPr>
          <p:nvPr/>
        </p:nvSpPr>
        <p:spPr>
          <a:xfrm>
            <a:off x="2849137" y="1830277"/>
            <a:ext cx="4924425" cy="1066800"/>
          </a:xfrm>
          <a:prstGeom prst="roundRect">
            <a:avLst>
              <a:gd name="adj" fmla="val 21429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5" name="refined-req-5-16">
            <a:extLst>
              <a:ext uri="{FF2B5EF4-FFF2-40B4-BE49-F238E27FC236}">
                <a16:creationId xmlns:a16="http://schemas.microsoft.com/office/drawing/2014/main" id="{8526B9B2-5AC7-4B5A-91CE-C4A5EEFC9431}"/>
              </a:ext>
            </a:extLst>
          </p:cNvPr>
          <p:cNvSpPr>
            <a:spLocks noGrp="1"/>
          </p:cNvSpPr>
          <p:nvPr/>
        </p:nvSpPr>
        <p:spPr>
          <a:xfrm>
            <a:off x="8011686" y="1830277"/>
            <a:ext cx="3770739" cy="1066800"/>
          </a:xfrm>
          <a:prstGeom prst="roundRect">
            <a:avLst>
              <a:gd name="adj" fmla="val 21429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7" name="refined-req-5-5">
            <a:extLst>
              <a:ext uri="{FF2B5EF4-FFF2-40B4-BE49-F238E27FC236}">
                <a16:creationId xmlns:a16="http://schemas.microsoft.com/office/drawing/2014/main" id="{6A9A013A-C03A-4B10-9675-9319A809FD02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306175" cy="4451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2850" b="1" dirty="0">
                <a:solidFill>
                  <a:srgbClr val="202126"/>
                </a:solidFill>
                <a:latin typeface="Arial"/>
              </a:rPr>
              <a:t>Целевая аудитория и ценность продукта</a:t>
            </a:r>
            <a:endParaRPr sz="285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fined-req-5-6">
            <a:extLst>
              <a:ext uri="{FF2B5EF4-FFF2-40B4-BE49-F238E27FC236}">
                <a16:creationId xmlns:a16="http://schemas.microsoft.com/office/drawing/2014/main" id="{71FF808E-08FE-4B68-8C6C-053BAFD58F68}"/>
              </a:ext>
            </a:extLst>
          </p:cNvPr>
          <p:cNvSpPr>
            <a:spLocks noGrp="1"/>
          </p:cNvSpPr>
          <p:nvPr/>
        </p:nvSpPr>
        <p:spPr>
          <a:xfrm>
            <a:off x="457200" y="1409700"/>
            <a:ext cx="113061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757681"/>
                </a:solidFill>
                <a:latin typeface="Arial"/>
              </a:rPr>
              <a:t>Превращаем потребность бизнеса в персональный финансовый маршрут</a:t>
            </a:r>
            <a:r>
              <a:rPr sz="1350" b="0" dirty="0">
                <a:solidFill>
                  <a:srgbClr val="75768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fined-req-5-9">
            <a:extLst>
              <a:ext uri="{FF2B5EF4-FFF2-40B4-BE49-F238E27FC236}">
                <a16:creationId xmlns:a16="http://schemas.microsoft.com/office/drawing/2014/main" id="{6B20CFAF-AF00-46CA-AAF9-FA442E1540A1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1" name="refined-req-5-11">
            <a:extLst>
              <a:ext uri="{FF2B5EF4-FFF2-40B4-BE49-F238E27FC236}">
                <a16:creationId xmlns:a16="http://schemas.microsoft.com/office/drawing/2014/main" id="{398D620D-A6D7-4475-B018-BC7C1800399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3190875" cy="4686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6,6 млн</a:t>
            </a:r>
          </a:p>
        </p:txBody>
      </p:sp>
      <p:sp>
        <p:nvSpPr>
          <p:cNvPr id="12" name="refined-req-5-12">
            <a:extLst>
              <a:ext uri="{FF2B5EF4-FFF2-40B4-BE49-F238E27FC236}">
                <a16:creationId xmlns:a16="http://schemas.microsoft.com/office/drawing/2014/main" id="{C7C510EC-522C-473D-9034-10CEF136801B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31908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E1DD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1DDEB"/>
                </a:solidFill>
                <a:latin typeface="Arial"/>
                <a:ea typeface="Arial"/>
                <a:cs typeface="Arial"/>
              </a:rPr>
              <a:t>TAM: реестр МСП [3]</a:t>
            </a:r>
          </a:p>
        </p:txBody>
      </p:sp>
      <p:sp>
        <p:nvSpPr>
          <p:cNvPr id="13" name="refined-req-5-14">
            <a:extLst>
              <a:ext uri="{FF2B5EF4-FFF2-40B4-BE49-F238E27FC236}">
                <a16:creationId xmlns:a16="http://schemas.microsoft.com/office/drawing/2014/main" id="{84D44B0A-BE90-4AA4-AD75-235CD20E45B5}"/>
              </a:ext>
            </a:extLst>
          </p:cNvPr>
          <p:cNvSpPr>
            <a:spLocks noGrp="1"/>
          </p:cNvSpPr>
          <p:nvPr/>
        </p:nvSpPr>
        <p:spPr>
          <a:xfrm>
            <a:off x="3077737" y="1954102"/>
            <a:ext cx="4514851" cy="4686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0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3000" b="1" dirty="0">
                <a:solidFill>
                  <a:srgbClr val="202126"/>
                </a:solidFill>
                <a:latin typeface="Arial"/>
              </a:rPr>
              <a:t>Микро- и малый бизнес</a:t>
            </a:r>
            <a:endParaRPr sz="30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fined-req-5-15">
            <a:extLst>
              <a:ext uri="{FF2B5EF4-FFF2-40B4-BE49-F238E27FC236}">
                <a16:creationId xmlns:a16="http://schemas.microsoft.com/office/drawing/2014/main" id="{3CE2E9FA-EB6A-439A-B998-0AE970DFC7FF}"/>
              </a:ext>
            </a:extLst>
          </p:cNvPr>
          <p:cNvSpPr>
            <a:spLocks noGrp="1"/>
          </p:cNvSpPr>
          <p:nvPr/>
        </p:nvSpPr>
        <p:spPr>
          <a:xfrm>
            <a:off x="3077737" y="2535127"/>
            <a:ext cx="31908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41424B"/>
                </a:solidFill>
                <a:latin typeface="Arial"/>
              </a:rPr>
              <a:t>ключевой целевой сегмент</a:t>
            </a: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fined-req-5-17">
            <a:extLst>
              <a:ext uri="{FF2B5EF4-FFF2-40B4-BE49-F238E27FC236}">
                <a16:creationId xmlns:a16="http://schemas.microsoft.com/office/drawing/2014/main" id="{15E570CD-568F-48BE-8213-86380625001B}"/>
              </a:ext>
            </a:extLst>
          </p:cNvPr>
          <p:cNvSpPr>
            <a:spLocks noGrp="1"/>
          </p:cNvSpPr>
          <p:nvPr/>
        </p:nvSpPr>
        <p:spPr>
          <a:xfrm>
            <a:off x="8240287" y="1954102"/>
            <a:ext cx="3190875" cy="4686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0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3000" b="1" dirty="0">
                <a:solidFill>
                  <a:srgbClr val="202126"/>
                </a:solidFill>
                <a:latin typeface="Arial"/>
              </a:rPr>
              <a:t>Первый сценарий</a:t>
            </a:r>
            <a:endParaRPr sz="30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fined-req-5-18">
            <a:extLst>
              <a:ext uri="{FF2B5EF4-FFF2-40B4-BE49-F238E27FC236}">
                <a16:creationId xmlns:a16="http://schemas.microsoft.com/office/drawing/2014/main" id="{79510D7E-1EE3-4955-80B5-25BA58B16982}"/>
              </a:ext>
            </a:extLst>
          </p:cNvPr>
          <p:cNvSpPr>
            <a:spLocks noGrp="1"/>
          </p:cNvSpPr>
          <p:nvPr/>
        </p:nvSpPr>
        <p:spPr>
          <a:xfrm>
            <a:off x="8240287" y="2535127"/>
            <a:ext cx="31908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41424B"/>
                </a:solidFill>
                <a:latin typeface="Arial"/>
              </a:rPr>
              <a:t>подбор мер господдержки</a:t>
            </a: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fined-req-5-19">
            <a:extLst>
              <a:ext uri="{FF2B5EF4-FFF2-40B4-BE49-F238E27FC236}">
                <a16:creationId xmlns:a16="http://schemas.microsoft.com/office/drawing/2014/main" id="{48C9AE98-0C34-4C0F-9BEC-2E91ED523145}"/>
              </a:ext>
            </a:extLst>
          </p:cNvPr>
          <p:cNvSpPr>
            <a:spLocks noGrp="1"/>
          </p:cNvSpPr>
          <p:nvPr/>
        </p:nvSpPr>
        <p:spPr>
          <a:xfrm>
            <a:off x="457200" y="3228785"/>
            <a:ext cx="549592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МСП </a:t>
            </a:r>
            <a:r>
              <a:rPr sz="1800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без</a:t>
            </a:r>
            <a:r>
              <a:rPr sz="1800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административного</a:t>
            </a:r>
            <a:r>
              <a:rPr sz="1800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ресурса</a:t>
            </a:r>
            <a:endParaRPr sz="18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fined-req-5-20">
            <a:extLst>
              <a:ext uri="{FF2B5EF4-FFF2-40B4-BE49-F238E27FC236}">
                <a16:creationId xmlns:a16="http://schemas.microsoft.com/office/drawing/2014/main" id="{6CD0B910-1940-4DE9-96BB-8ECFB51B6D99}"/>
              </a:ext>
            </a:extLst>
          </p:cNvPr>
          <p:cNvSpPr>
            <a:spLocks noGrp="1"/>
          </p:cNvSpPr>
          <p:nvPr/>
        </p:nvSpPr>
        <p:spPr>
          <a:xfrm>
            <a:off x="457200" y="3609785"/>
            <a:ext cx="54959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Микробизнес, начинающие предприниматели и растущие</a:t>
            </a:r>
          </a:p>
        </p:txBody>
      </p:sp>
      <p:sp>
        <p:nvSpPr>
          <p:cNvPr id="19" name="refined-req-5-20">
            <a:extLst>
              <a:ext uri="{FF2B5EF4-FFF2-40B4-BE49-F238E27FC236}">
                <a16:creationId xmlns:a16="http://schemas.microsoft.com/office/drawing/2014/main" id="{D5FD5B02-9D6A-4F94-9413-9F7E68EC4B15}"/>
              </a:ext>
            </a:extLst>
          </p:cNvPr>
          <p:cNvSpPr>
            <a:spLocks noGrp="1"/>
          </p:cNvSpPr>
          <p:nvPr/>
        </p:nvSpPr>
        <p:spPr>
          <a:xfrm>
            <a:off x="457200" y="3828860"/>
            <a:ext cx="54959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компании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без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штатных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юристов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 GR-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специалиста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0" name="refined-req-5-20">
            <a:extLst>
              <a:ext uri="{FF2B5EF4-FFF2-40B4-BE49-F238E27FC236}">
                <a16:creationId xmlns:a16="http://schemas.microsoft.com/office/drawing/2014/main" id="{07B45B83-2FD9-4D8B-A054-CE66C46B2706}"/>
              </a:ext>
            </a:extLst>
          </p:cNvPr>
          <p:cNvSpPr>
            <a:spLocks noGrp="1"/>
          </p:cNvSpPr>
          <p:nvPr/>
        </p:nvSpPr>
        <p:spPr>
          <a:xfrm>
            <a:off x="457200" y="4047935"/>
            <a:ext cx="54959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Приоритетные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отрасли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: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производство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АПК, IT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инновации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21" name="refined-req-5-20">
            <a:extLst>
              <a:ext uri="{FF2B5EF4-FFF2-40B4-BE49-F238E27FC236}">
                <a16:creationId xmlns:a16="http://schemas.microsoft.com/office/drawing/2014/main" id="{05F5EDB6-52C6-4DFC-A92A-DD5474F79B2B}"/>
              </a:ext>
            </a:extLst>
          </p:cNvPr>
          <p:cNvSpPr>
            <a:spLocks noGrp="1"/>
          </p:cNvSpPr>
          <p:nvPr/>
        </p:nvSpPr>
        <p:spPr>
          <a:xfrm>
            <a:off x="457200" y="4267010"/>
            <a:ext cx="54959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туризм. Решение принимает собственник, директор или</a:t>
            </a:r>
          </a:p>
        </p:txBody>
      </p:sp>
      <p:sp>
        <p:nvSpPr>
          <p:cNvPr id="22" name="refined-req-5-20">
            <a:extLst>
              <a:ext uri="{FF2B5EF4-FFF2-40B4-BE49-F238E27FC236}">
                <a16:creationId xmlns:a16="http://schemas.microsoft.com/office/drawing/2014/main" id="{0D44FC52-8A51-480F-8CC4-15F8536EB99F}"/>
              </a:ext>
            </a:extLst>
          </p:cNvPr>
          <p:cNvSpPr>
            <a:spLocks noGrp="1"/>
          </p:cNvSpPr>
          <p:nvPr/>
        </p:nvSpPr>
        <p:spPr>
          <a:xfrm>
            <a:off x="457200" y="4486085"/>
            <a:ext cx="54959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главный бухгалтер.</a:t>
            </a:r>
          </a:p>
        </p:txBody>
      </p:sp>
      <p:sp>
        <p:nvSpPr>
          <p:cNvPr id="23" name="refined-req-5-21">
            <a:extLst>
              <a:ext uri="{FF2B5EF4-FFF2-40B4-BE49-F238E27FC236}">
                <a16:creationId xmlns:a16="http://schemas.microsoft.com/office/drawing/2014/main" id="{C30E9AB6-7928-4193-87D5-01849A6E8BC3}"/>
              </a:ext>
            </a:extLst>
          </p:cNvPr>
          <p:cNvSpPr>
            <a:spLocks noGrp="1"/>
          </p:cNvSpPr>
          <p:nvPr/>
        </p:nvSpPr>
        <p:spPr>
          <a:xfrm>
            <a:off x="457200" y="4952810"/>
            <a:ext cx="549592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202126"/>
                </a:solidFill>
                <a:latin typeface="Arial"/>
              </a:rPr>
              <a:t>Ценность для бизнеса</a:t>
            </a:r>
            <a:endParaRPr sz="18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fined-req-5-22">
            <a:extLst>
              <a:ext uri="{FF2B5EF4-FFF2-40B4-BE49-F238E27FC236}">
                <a16:creationId xmlns:a16="http://schemas.microsoft.com/office/drawing/2014/main" id="{59D7A53E-59CA-4C9C-B7E0-68E59D1ED736}"/>
              </a:ext>
            </a:extLst>
          </p:cNvPr>
          <p:cNvSpPr>
            <a:spLocks noGrp="1"/>
          </p:cNvSpPr>
          <p:nvPr/>
        </p:nvSpPr>
        <p:spPr>
          <a:xfrm>
            <a:off x="457200" y="5333810"/>
            <a:ext cx="5495925" cy="12395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  <a:t>Персональный подбор мер по профилю компании, понятное</a:t>
            </a:r>
            <a:b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  <a:t>объяснение условий и помощь с подготовкой документов.</a:t>
            </a:r>
            <a:b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  <a:t>Один цифровой путь вместо самостоятельного поиска по</a:t>
            </a:r>
            <a:b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  <a:cs typeface="Arial"/>
              </a:rPr>
              <a:t>множеству источников.</a:t>
            </a:r>
          </a:p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fined-req-5-23">
            <a:extLst>
              <a:ext uri="{FF2B5EF4-FFF2-40B4-BE49-F238E27FC236}">
                <a16:creationId xmlns:a16="http://schemas.microsoft.com/office/drawing/2014/main" id="{825D4C0E-1D09-4517-942E-B461C21BE5A4}"/>
              </a:ext>
            </a:extLst>
          </p:cNvPr>
          <p:cNvSpPr>
            <a:spLocks noGrp="1"/>
          </p:cNvSpPr>
          <p:nvPr/>
        </p:nvSpPr>
        <p:spPr>
          <a:xfrm>
            <a:off x="6257925" y="3228785"/>
            <a:ext cx="5505450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202126"/>
                </a:solidFill>
                <a:latin typeface="Arial"/>
              </a:rPr>
              <a:t>Ценность для банка</a:t>
            </a:r>
            <a:endParaRPr sz="18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fined-req-5-24">
            <a:extLst>
              <a:ext uri="{FF2B5EF4-FFF2-40B4-BE49-F238E27FC236}">
                <a16:creationId xmlns:a16="http://schemas.microsoft.com/office/drawing/2014/main" id="{1E8BE1EB-EF20-403A-B07F-966ECDCE59B3}"/>
              </a:ext>
            </a:extLst>
          </p:cNvPr>
          <p:cNvSpPr>
            <a:spLocks noGrp="1"/>
          </p:cNvSpPr>
          <p:nvPr/>
        </p:nvSpPr>
        <p:spPr>
          <a:xfrm>
            <a:off x="6257925" y="3609785"/>
            <a:ext cx="5505450" cy="11047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ru-RU" sz="1460" dirty="0">
                <a:solidFill>
                  <a:srgbClr val="41424B"/>
                </a:solidFill>
                <a:latin typeface="Arial"/>
              </a:rPr>
              <a:t>Дополнительный аналитический сервис для бизнес-клиентов:</a:t>
            </a:r>
            <a:br>
              <a:rPr lang="en-US" sz="1460" dirty="0">
                <a:solidFill>
                  <a:srgbClr val="41424B"/>
                </a:solidFill>
                <a:latin typeface="Arial"/>
              </a:rPr>
            </a:br>
            <a:r>
              <a:rPr lang="ru-RU" sz="1460" dirty="0">
                <a:solidFill>
                  <a:srgbClr val="41424B"/>
                </a:solidFill>
                <a:latin typeface="Arial"/>
              </a:rPr>
              <a:t>помогает выявить потребность компании, подобрать </a:t>
            </a:r>
            <a:br>
              <a:rPr lang="en-US" sz="1460" dirty="0">
                <a:solidFill>
                  <a:srgbClr val="41424B"/>
                </a:solidFill>
                <a:latin typeface="Arial"/>
              </a:rPr>
            </a:br>
            <a:r>
              <a:rPr lang="ru-RU" sz="1460" dirty="0">
                <a:solidFill>
                  <a:srgbClr val="41424B"/>
                </a:solidFill>
                <a:latin typeface="Arial"/>
              </a:rPr>
              <a:t>релевантные меры поддержки и сопровождать клиента в </a:t>
            </a:r>
            <a:br>
              <a:rPr lang="en-US" sz="1460" dirty="0">
                <a:solidFill>
                  <a:srgbClr val="41424B"/>
                </a:solidFill>
                <a:latin typeface="Arial"/>
              </a:rPr>
            </a:br>
            <a:r>
              <a:rPr lang="ru-RU" sz="1460" dirty="0">
                <a:solidFill>
                  <a:srgbClr val="41424B"/>
                </a:solidFill>
                <a:latin typeface="Arial"/>
              </a:rPr>
              <a:t>едином цифровом сценарии.</a:t>
            </a:r>
            <a:endParaRPr lang="ru-RU" sz="1460" dirty="0"/>
          </a:p>
        </p:txBody>
      </p:sp>
      <p:sp>
        <p:nvSpPr>
          <p:cNvPr id="35" name="refined-req-5-25">
            <a:extLst>
              <a:ext uri="{FF2B5EF4-FFF2-40B4-BE49-F238E27FC236}">
                <a16:creationId xmlns:a16="http://schemas.microsoft.com/office/drawing/2014/main" id="{F37D6D5A-C59D-4097-BACB-8FFD7294EA21}"/>
              </a:ext>
            </a:extLst>
          </p:cNvPr>
          <p:cNvSpPr>
            <a:spLocks noGrp="1"/>
          </p:cNvSpPr>
          <p:nvPr/>
        </p:nvSpPr>
        <p:spPr>
          <a:xfrm>
            <a:off x="6257925" y="4952810"/>
            <a:ext cx="5505450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202126"/>
                </a:solidFill>
                <a:latin typeface="Arial"/>
              </a:rPr>
              <a:t>Потенциал развития</a:t>
            </a:r>
            <a:endParaRPr sz="18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fined-req-5-26">
            <a:extLst>
              <a:ext uri="{FF2B5EF4-FFF2-40B4-BE49-F238E27FC236}">
                <a16:creationId xmlns:a16="http://schemas.microsoft.com/office/drawing/2014/main" id="{C0811142-E651-4932-9D64-CF523003CBF8}"/>
              </a:ext>
            </a:extLst>
          </p:cNvPr>
          <p:cNvSpPr>
            <a:spLocks noGrp="1"/>
          </p:cNvSpPr>
          <p:nvPr/>
        </p:nvSpPr>
        <p:spPr>
          <a:xfrm>
            <a:off x="6257925" y="5333810"/>
            <a:ext cx="5505450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463" dirty="0">
                <a:solidFill>
                  <a:srgbClr val="41424B"/>
                </a:solidFill>
                <a:latin typeface="Arial"/>
              </a:rPr>
              <a:t>Государственная поддержка - первый реализованный сценарий.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Архитектура позволяет развивать сервис в сторону других 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финансовых инструментов и интеграции в клиентские процессы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банка.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fined-req-5-27">
            <a:extLst>
              <a:ext uri="{FF2B5EF4-FFF2-40B4-BE49-F238E27FC236}">
                <a16:creationId xmlns:a16="http://schemas.microsoft.com/office/drawing/2014/main" id="{7E75590C-A61C-434B-A9C9-797F40D4FB40}"/>
              </a:ext>
            </a:extLst>
          </p:cNvPr>
          <p:cNvSpPr>
            <a:spLocks noGrp="1"/>
          </p:cNvSpPr>
          <p:nvPr/>
        </p:nvSpPr>
        <p:spPr>
          <a:xfrm>
            <a:off x="5143500" y="6667500"/>
            <a:ext cx="32670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750" b="0" dirty="0">
              <a:solidFill>
                <a:srgbClr val="6554B8"/>
              </a:solidFill>
              <a:latin typeface="Arial"/>
              <a:ea typeface="Arial"/>
              <a:cs typeface="Arial"/>
              <a:hlinkClick r:id="rId3"/>
            </a:endParaRPr>
          </a:p>
        </p:txBody>
      </p:sp>
      <p:sp>
        <p:nvSpPr>
          <p:cNvPr id="42" name="refined-req-5-28">
            <a:extLst>
              <a:ext uri="{FF2B5EF4-FFF2-40B4-BE49-F238E27FC236}">
                <a16:creationId xmlns:a16="http://schemas.microsoft.com/office/drawing/2014/main" id="{D4B8F934-B4F9-4C7E-86D5-610C42651F63}"/>
              </a:ext>
            </a:extLst>
          </p:cNvPr>
          <p:cNvSpPr>
            <a:spLocks noGrp="1"/>
          </p:cNvSpPr>
          <p:nvPr/>
        </p:nvSpPr>
        <p:spPr>
          <a:xfrm>
            <a:off x="8477250" y="6667500"/>
            <a:ext cx="2952750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750" b="0" dirty="0">
              <a:solidFill>
                <a:srgbClr val="6554B8"/>
              </a:solidFill>
              <a:latin typeface="Arial"/>
              <a:ea typeface="Arial"/>
              <a:cs typeface="Arial"/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12092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6-7">
            <a:extLst>
              <a:ext uri="{FF2B5EF4-FFF2-40B4-BE49-F238E27FC236}">
                <a16:creationId xmlns:a16="http://schemas.microsoft.com/office/drawing/2014/main" id="{DD370075-01CA-4E76-8C81-C3FB28FC9D09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6-10">
            <a:extLst>
              <a:ext uri="{FF2B5EF4-FFF2-40B4-BE49-F238E27FC236}">
                <a16:creationId xmlns:a16="http://schemas.microsoft.com/office/drawing/2014/main" id="{5026FB13-D27B-41AF-BD9C-081C93177816}"/>
              </a:ext>
            </a:extLst>
          </p:cNvPr>
          <p:cNvSpPr>
            <a:spLocks noGrp="1"/>
          </p:cNvSpPr>
          <p:nvPr/>
        </p:nvSpPr>
        <p:spPr>
          <a:xfrm>
            <a:off x="8896350" y="609600"/>
            <a:ext cx="2838450" cy="5895975"/>
          </a:xfrm>
          <a:prstGeom prst="roundRect">
            <a:avLst>
              <a:gd name="adj" fmla="val 10403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4" name="refined-req-6-11">
            <a:extLst>
              <a:ext uri="{FF2B5EF4-FFF2-40B4-BE49-F238E27FC236}">
                <a16:creationId xmlns:a16="http://schemas.microsoft.com/office/drawing/2014/main" id="{854E91D3-E259-471E-B090-9576D2285779}"/>
              </a:ext>
            </a:extLst>
          </p:cNvPr>
          <p:cNvSpPr>
            <a:spLocks noGrp="1"/>
          </p:cNvSpPr>
          <p:nvPr/>
        </p:nvSpPr>
        <p:spPr>
          <a:xfrm>
            <a:off x="9001125" y="714375"/>
            <a:ext cx="2628900" cy="5686425"/>
          </a:xfrm>
          <a:prstGeom prst="roundRect">
            <a:avLst>
              <a:gd name="adj" fmla="val 9420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5" name="refined-req-6-13">
            <a:extLst>
              <a:ext uri="{FF2B5EF4-FFF2-40B4-BE49-F238E27FC236}">
                <a16:creationId xmlns:a16="http://schemas.microsoft.com/office/drawing/2014/main" id="{5EB04013-BE19-49F0-9B9F-B00D62CF0407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6" name="refined-req-6-17">
            <a:extLst>
              <a:ext uri="{FF2B5EF4-FFF2-40B4-BE49-F238E27FC236}">
                <a16:creationId xmlns:a16="http://schemas.microsoft.com/office/drawing/2014/main" id="{582F38C7-A994-4541-BB10-D06D2005C6A8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7" name="refined-req-6-21">
            <a:extLst>
              <a:ext uri="{FF2B5EF4-FFF2-40B4-BE49-F238E27FC236}">
                <a16:creationId xmlns:a16="http://schemas.microsoft.com/office/drawing/2014/main" id="{3EAED060-A738-4387-BA50-1ADE82130F85}"/>
              </a:ext>
            </a:extLst>
          </p:cNvPr>
          <p:cNvSpPr>
            <a:spLocks noGrp="1"/>
          </p:cNvSpPr>
          <p:nvPr/>
        </p:nvSpPr>
        <p:spPr>
          <a:xfrm>
            <a:off x="457200" y="4895850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8" name="refined-req-6-4">
            <a:extLst>
              <a:ext uri="{FF2B5EF4-FFF2-40B4-BE49-F238E27FC236}">
                <a16:creationId xmlns:a16="http://schemas.microsoft.com/office/drawing/2014/main" id="{D1992BC0-D001-418E-BDE7-B873E1356708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775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fined-req-6-5">
            <a:extLst>
              <a:ext uri="{FF2B5EF4-FFF2-40B4-BE49-F238E27FC236}">
                <a16:creationId xmlns:a16="http://schemas.microsoft.com/office/drawing/2014/main" id="{17E8E4B6-820E-4F5E-859F-E5D70252867B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8124825" cy="4100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Добавление</a:t>
            </a:r>
            <a:r>
              <a:rPr sz="26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компании</a:t>
            </a:r>
            <a:r>
              <a:rPr sz="26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по</a:t>
            </a:r>
            <a:r>
              <a:rPr sz="26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ИНН</a:t>
            </a:r>
          </a:p>
        </p:txBody>
      </p:sp>
      <p:sp>
        <p:nvSpPr>
          <p:cNvPr id="10" name="refined-req-6-6">
            <a:extLst>
              <a:ext uri="{FF2B5EF4-FFF2-40B4-BE49-F238E27FC236}">
                <a16:creationId xmlns:a16="http://schemas.microsoft.com/office/drawing/2014/main" id="{DFE4736A-3065-4A50-9E02-1D1AD19A81DC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81248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fined-req-6-8">
            <a:extLst>
              <a:ext uri="{FF2B5EF4-FFF2-40B4-BE49-F238E27FC236}">
                <a16:creationId xmlns:a16="http://schemas.microsoft.com/office/drawing/2014/main" id="{4240B2AD-3555-4D3C-82E8-CCB16680BEF9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38385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fined-req-6-9">
            <a:extLst>
              <a:ext uri="{FF2B5EF4-FFF2-40B4-BE49-F238E27FC236}">
                <a16:creationId xmlns:a16="http://schemas.microsoft.com/office/drawing/2014/main" id="{A841ED24-EAF3-404B-8E52-FE03A384582B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3" name="refined-req-6-14">
            <a:extLst>
              <a:ext uri="{FF2B5EF4-FFF2-40B4-BE49-F238E27FC236}">
                <a16:creationId xmlns:a16="http://schemas.microsoft.com/office/drawing/2014/main" id="{A2EAFECD-1AFC-4112-ADD4-925903E3AF31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refined-req-6-15">
            <a:extLst>
              <a:ext uri="{FF2B5EF4-FFF2-40B4-BE49-F238E27FC236}">
                <a16:creationId xmlns:a16="http://schemas.microsoft.com/office/drawing/2014/main" id="{F490D9DB-67AF-4C89-988A-BBD7E8E825F7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Один ИНН вместо ручного заполнения</a:t>
            </a:r>
          </a:p>
        </p:txBody>
      </p:sp>
      <p:sp>
        <p:nvSpPr>
          <p:cNvPr id="15" name="refined-req-6-16">
            <a:extLst>
              <a:ext uri="{FF2B5EF4-FFF2-40B4-BE49-F238E27FC236}">
                <a16:creationId xmlns:a16="http://schemas.microsoft.com/office/drawing/2014/main" id="{612458F4-ADE6-499A-B0FD-E79DFCA43D3A}"/>
              </a:ext>
            </a:extLst>
          </p:cNvPr>
          <p:cNvSpPr>
            <a:spLocks noGrp="1"/>
          </p:cNvSpPr>
          <p:nvPr/>
        </p:nvSpPr>
        <p:spPr>
          <a:xfrm>
            <a:off x="457200" y="2333625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Пользователь вводит ИНН и нажимает «Загрузить по ИНН». Сервис обращается к</a:t>
            </a:r>
          </a:p>
        </p:txBody>
      </p:sp>
      <p:sp>
        <p:nvSpPr>
          <p:cNvPr id="16" name="refined-req-6-16">
            <a:extLst>
              <a:ext uri="{FF2B5EF4-FFF2-40B4-BE49-F238E27FC236}">
                <a16:creationId xmlns:a16="http://schemas.microsoft.com/office/drawing/2014/main" id="{364B1454-145B-48DF-92A0-5BB3446ACCDB}"/>
              </a:ext>
            </a:extLst>
          </p:cNvPr>
          <p:cNvSpPr>
            <a:spLocks noGrp="1"/>
          </p:cNvSpPr>
          <p:nvPr/>
        </p:nvSpPr>
        <p:spPr>
          <a:xfrm>
            <a:off x="457200" y="2569518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источнику данных и переносит доступные сведения в профиль: название, регион,</a:t>
            </a:r>
          </a:p>
        </p:txBody>
      </p:sp>
      <p:sp>
        <p:nvSpPr>
          <p:cNvPr id="17" name="refined-req-6-16">
            <a:extLst>
              <a:ext uri="{FF2B5EF4-FFF2-40B4-BE49-F238E27FC236}">
                <a16:creationId xmlns:a16="http://schemas.microsoft.com/office/drawing/2014/main" id="{33FE8EF5-EFB2-4921-A95E-C50E2C17A42F}"/>
              </a:ext>
            </a:extLst>
          </p:cNvPr>
          <p:cNvSpPr>
            <a:spLocks noGrp="1"/>
          </p:cNvSpPr>
          <p:nvPr/>
        </p:nvSpPr>
        <p:spPr>
          <a:xfrm>
            <a:off x="457200" y="2805410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ОКВЭД,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форму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бизнеса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другие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поля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18" name="refined-req-6-16">
            <a:extLst>
              <a:ext uri="{FF2B5EF4-FFF2-40B4-BE49-F238E27FC236}">
                <a16:creationId xmlns:a16="http://schemas.microsoft.com/office/drawing/2014/main" id="{FB5C250C-F1AC-4175-9A89-7BECE20AB9FF}"/>
              </a:ext>
            </a:extLst>
          </p:cNvPr>
          <p:cNvSpPr>
            <a:spLocks noGrp="1"/>
          </p:cNvSpPr>
          <p:nvPr/>
        </p:nvSpPr>
        <p:spPr>
          <a:xfrm>
            <a:off x="457200" y="3041303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fined-req-6-18">
            <a:extLst>
              <a:ext uri="{FF2B5EF4-FFF2-40B4-BE49-F238E27FC236}">
                <a16:creationId xmlns:a16="http://schemas.microsoft.com/office/drawing/2014/main" id="{92B761A8-1CD2-4979-9A7B-5CBD8353C3A5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fined-req-6-19">
            <a:extLst>
              <a:ext uri="{FF2B5EF4-FFF2-40B4-BE49-F238E27FC236}">
                <a16:creationId xmlns:a16="http://schemas.microsoft.com/office/drawing/2014/main" id="{6DD528FF-7F9C-441F-99A6-453C6E71ED51}"/>
              </a:ext>
            </a:extLst>
          </p:cNvPr>
          <p:cNvSpPr>
            <a:spLocks noGrp="1"/>
          </p:cNvSpPr>
          <p:nvPr/>
        </p:nvSpPr>
        <p:spPr>
          <a:xfrm>
            <a:off x="971550" y="3533775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Профиль становится основой подбора</a:t>
            </a:r>
          </a:p>
        </p:txBody>
      </p:sp>
      <p:sp>
        <p:nvSpPr>
          <p:cNvPr id="21" name="refined-req-6-20">
            <a:extLst>
              <a:ext uri="{FF2B5EF4-FFF2-40B4-BE49-F238E27FC236}">
                <a16:creationId xmlns:a16="http://schemas.microsoft.com/office/drawing/2014/main" id="{7FD8B4F0-0272-426F-9DA6-E3CB232A90F6}"/>
              </a:ext>
            </a:extLst>
          </p:cNvPr>
          <p:cNvSpPr>
            <a:spLocks noGrp="1"/>
          </p:cNvSpPr>
          <p:nvPr/>
        </p:nvSpPr>
        <p:spPr>
          <a:xfrm>
            <a:off x="457200" y="3924300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Предприниматель проверяет загруженные сведения и сохраняет бизнес. Отрасль,</a:t>
            </a:r>
          </a:p>
        </p:txBody>
      </p:sp>
      <p:sp>
        <p:nvSpPr>
          <p:cNvPr id="22" name="refined-req-6-20">
            <a:extLst>
              <a:ext uri="{FF2B5EF4-FFF2-40B4-BE49-F238E27FC236}">
                <a16:creationId xmlns:a16="http://schemas.microsoft.com/office/drawing/2014/main" id="{1CE9C5A9-AE61-4FA6-A947-78BF3646F0E3}"/>
              </a:ext>
            </a:extLst>
          </p:cNvPr>
          <p:cNvSpPr>
            <a:spLocks noGrp="1"/>
          </p:cNvSpPr>
          <p:nvPr/>
        </p:nvSpPr>
        <p:spPr>
          <a:xfrm>
            <a:off x="457200" y="4160193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регион и статус МСП используются при проверке условий поддержки, а затем</a:t>
            </a:r>
          </a:p>
        </p:txBody>
      </p:sp>
      <p:sp>
        <p:nvSpPr>
          <p:cNvPr id="23" name="refined-req-6-20">
            <a:extLst>
              <a:ext uri="{FF2B5EF4-FFF2-40B4-BE49-F238E27FC236}">
                <a16:creationId xmlns:a16="http://schemas.microsoft.com/office/drawing/2014/main" id="{C7C5AA3D-0E81-4017-AFE9-BC810A89133E}"/>
              </a:ext>
            </a:extLst>
          </p:cNvPr>
          <p:cNvSpPr>
            <a:spLocks noGrp="1"/>
          </p:cNvSpPr>
          <p:nvPr/>
        </p:nvSpPr>
        <p:spPr>
          <a:xfrm>
            <a:off x="457200" y="4396085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передаются в контекст ИИ. Недостающие параметры проекта уточняются отдельно.</a:t>
            </a:r>
          </a:p>
        </p:txBody>
      </p:sp>
      <p:sp>
        <p:nvSpPr>
          <p:cNvPr id="24" name="refined-req-6-22">
            <a:extLst>
              <a:ext uri="{FF2B5EF4-FFF2-40B4-BE49-F238E27FC236}">
                <a16:creationId xmlns:a16="http://schemas.microsoft.com/office/drawing/2014/main" id="{9B9F3848-4098-4714-BF5D-C13F6EC64E1E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fined-req-6-23">
            <a:extLst>
              <a:ext uri="{FF2B5EF4-FFF2-40B4-BE49-F238E27FC236}">
                <a16:creationId xmlns:a16="http://schemas.microsoft.com/office/drawing/2014/main" id="{8379EDD1-57DC-4B99-AD6A-1F8A45E69092}"/>
              </a:ext>
            </a:extLst>
          </p:cNvPr>
          <p:cNvSpPr>
            <a:spLocks noGrp="1"/>
          </p:cNvSpPr>
          <p:nvPr/>
        </p:nvSpPr>
        <p:spPr>
          <a:xfrm>
            <a:off x="971550" y="4886325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Готовая основа для всей заявки</a:t>
            </a:r>
          </a:p>
        </p:txBody>
      </p:sp>
      <p:sp>
        <p:nvSpPr>
          <p:cNvPr id="26" name="refined-req-6-24">
            <a:extLst>
              <a:ext uri="{FF2B5EF4-FFF2-40B4-BE49-F238E27FC236}">
                <a16:creationId xmlns:a16="http://schemas.microsoft.com/office/drawing/2014/main" id="{2CFBCDBF-A545-42AF-9165-7004F44CBA59}"/>
              </a:ext>
            </a:extLst>
          </p:cNvPr>
          <p:cNvSpPr>
            <a:spLocks noGrp="1"/>
          </p:cNvSpPr>
          <p:nvPr/>
        </p:nvSpPr>
        <p:spPr>
          <a:xfrm>
            <a:off x="457200" y="5276850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Сохранённая компания используется в поиске поддержки, объяснениях ИИ и</a:t>
            </a:r>
          </a:p>
        </p:txBody>
      </p:sp>
      <p:sp>
        <p:nvSpPr>
          <p:cNvPr id="27" name="refined-req-6-24">
            <a:extLst>
              <a:ext uri="{FF2B5EF4-FFF2-40B4-BE49-F238E27FC236}">
                <a16:creationId xmlns:a16="http://schemas.microsoft.com/office/drawing/2014/main" id="{0F037479-F0F5-4462-9C24-90A32A0530DB}"/>
              </a:ext>
            </a:extLst>
          </p:cNvPr>
          <p:cNvSpPr>
            <a:spLocks noGrp="1"/>
          </p:cNvSpPr>
          <p:nvPr/>
        </p:nvSpPr>
        <p:spPr>
          <a:xfrm>
            <a:off x="457200" y="5512743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подготовке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документов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Предприниматель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дополняет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только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сведения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к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конкретн</a:t>
            </a:r>
            <a:r>
              <a:rPr lang="ru-RU"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ому</a:t>
            </a:r>
            <a:endParaRPr sz="1575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fined-req-6-24">
            <a:extLst>
              <a:ext uri="{FF2B5EF4-FFF2-40B4-BE49-F238E27FC236}">
                <a16:creationId xmlns:a16="http://schemas.microsoft.com/office/drawing/2014/main" id="{AB5E7F8D-B86D-46C4-9B03-840504BB7F8E}"/>
              </a:ext>
            </a:extLst>
          </p:cNvPr>
          <p:cNvSpPr>
            <a:spLocks noGrp="1"/>
          </p:cNvSpPr>
          <p:nvPr/>
        </p:nvSpPr>
        <p:spPr>
          <a:xfrm>
            <a:off x="457200" y="5748635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проект</a:t>
            </a:r>
            <a:r>
              <a:rPr lang="ru-RU" sz="1575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у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29" name="refined-req-6-24">
            <a:extLst>
              <a:ext uri="{FF2B5EF4-FFF2-40B4-BE49-F238E27FC236}">
                <a16:creationId xmlns:a16="http://schemas.microsoft.com/office/drawing/2014/main" id="{C1C50EFE-891F-4D08-96C6-0FB6EE56971D}"/>
              </a:ext>
            </a:extLst>
          </p:cNvPr>
          <p:cNvSpPr>
            <a:spLocks noGrp="1"/>
          </p:cNvSpPr>
          <p:nvPr/>
        </p:nvSpPr>
        <p:spPr>
          <a:xfrm>
            <a:off x="457200" y="5984528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fined-req-6-25">
            <a:extLst>
              <a:ext uri="{FF2B5EF4-FFF2-40B4-BE49-F238E27FC236}">
                <a16:creationId xmlns:a16="http://schemas.microsoft.com/office/drawing/2014/main" id="{032BD5FA-B74F-4F8B-B201-804041D8AA4F}"/>
              </a:ext>
            </a:extLst>
          </p:cNvPr>
          <p:cNvSpPr>
            <a:spLocks noGrp="1"/>
          </p:cNvSpPr>
          <p:nvPr/>
        </p:nvSpPr>
        <p:spPr>
          <a:xfrm>
            <a:off x="4953000" y="6667500"/>
            <a:ext cx="644842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0" y="763661"/>
            <a:ext cx="2533650" cy="5483078"/>
          </a:xfrm>
          <a:prstGeom prst="roundRect">
            <a:avLst>
              <a:gd name="adj" fmla="val 8271"/>
            </a:avLst>
          </a:prstGeom>
        </p:spPr>
      </p:pic>
    </p:spTree>
    <p:extLst>
      <p:ext uri="{BB962C8B-B14F-4D97-AF65-F5344CB8AC3E}">
        <p14:creationId xmlns:p14="http://schemas.microsoft.com/office/powerpoint/2010/main" val="97268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7-7">
            <a:extLst>
              <a:ext uri="{FF2B5EF4-FFF2-40B4-BE49-F238E27FC236}">
                <a16:creationId xmlns:a16="http://schemas.microsoft.com/office/drawing/2014/main" id="{9B25D602-13FC-4D99-BC8D-D0C768A43342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7-10">
            <a:extLst>
              <a:ext uri="{FF2B5EF4-FFF2-40B4-BE49-F238E27FC236}">
                <a16:creationId xmlns:a16="http://schemas.microsoft.com/office/drawing/2014/main" id="{9C0FF207-0487-4E9F-BAB6-227641CF75AE}"/>
              </a:ext>
            </a:extLst>
          </p:cNvPr>
          <p:cNvSpPr>
            <a:spLocks noGrp="1"/>
          </p:cNvSpPr>
          <p:nvPr/>
        </p:nvSpPr>
        <p:spPr>
          <a:xfrm>
            <a:off x="8896350" y="609600"/>
            <a:ext cx="2838450" cy="5895975"/>
          </a:xfrm>
          <a:prstGeom prst="roundRect">
            <a:avLst>
              <a:gd name="adj" fmla="val 10403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4" name="refined-req-7-11">
            <a:extLst>
              <a:ext uri="{FF2B5EF4-FFF2-40B4-BE49-F238E27FC236}">
                <a16:creationId xmlns:a16="http://schemas.microsoft.com/office/drawing/2014/main" id="{D99DA37E-7D7F-4E62-97C0-92E48BD22C03}"/>
              </a:ext>
            </a:extLst>
          </p:cNvPr>
          <p:cNvSpPr>
            <a:spLocks noGrp="1"/>
          </p:cNvSpPr>
          <p:nvPr/>
        </p:nvSpPr>
        <p:spPr>
          <a:xfrm>
            <a:off x="9001125" y="714375"/>
            <a:ext cx="2628900" cy="5686425"/>
          </a:xfrm>
          <a:prstGeom prst="roundRect">
            <a:avLst>
              <a:gd name="adj" fmla="val 9420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5" name="refined-req-7-13">
            <a:extLst>
              <a:ext uri="{FF2B5EF4-FFF2-40B4-BE49-F238E27FC236}">
                <a16:creationId xmlns:a16="http://schemas.microsoft.com/office/drawing/2014/main" id="{2BE89151-C2EE-43EB-935E-A822884153F3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6" name="refined-req-7-17">
            <a:extLst>
              <a:ext uri="{FF2B5EF4-FFF2-40B4-BE49-F238E27FC236}">
                <a16:creationId xmlns:a16="http://schemas.microsoft.com/office/drawing/2014/main" id="{F1BEE5DF-B67D-4BCF-9E98-FDBED3F8A2C4}"/>
              </a:ext>
            </a:extLst>
          </p:cNvPr>
          <p:cNvSpPr>
            <a:spLocks noGrp="1"/>
          </p:cNvSpPr>
          <p:nvPr/>
        </p:nvSpPr>
        <p:spPr>
          <a:xfrm>
            <a:off x="457200" y="330517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7" name="refined-req-7-21">
            <a:extLst>
              <a:ext uri="{FF2B5EF4-FFF2-40B4-BE49-F238E27FC236}">
                <a16:creationId xmlns:a16="http://schemas.microsoft.com/office/drawing/2014/main" id="{21E1CD15-A623-4459-BC56-5F02A1642EB0}"/>
              </a:ext>
            </a:extLst>
          </p:cNvPr>
          <p:cNvSpPr>
            <a:spLocks noGrp="1"/>
          </p:cNvSpPr>
          <p:nvPr/>
        </p:nvSpPr>
        <p:spPr>
          <a:xfrm>
            <a:off x="457200" y="4895850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8" name="refined-req-7-4">
            <a:extLst>
              <a:ext uri="{FF2B5EF4-FFF2-40B4-BE49-F238E27FC236}">
                <a16:creationId xmlns:a16="http://schemas.microsoft.com/office/drawing/2014/main" id="{42E295D0-5602-4E88-A66D-6703CBE4C626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775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fined-req-7-5">
            <a:extLst>
              <a:ext uri="{FF2B5EF4-FFF2-40B4-BE49-F238E27FC236}">
                <a16:creationId xmlns:a16="http://schemas.microsoft.com/office/drawing/2014/main" id="{95FBCA76-7931-40A8-BC7F-449BBBDA2C98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8124825" cy="4100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ИИ ищет поддержку по данным компании</a:t>
            </a:r>
          </a:p>
        </p:txBody>
      </p:sp>
      <p:sp>
        <p:nvSpPr>
          <p:cNvPr id="10" name="refined-req-7-6">
            <a:extLst>
              <a:ext uri="{FF2B5EF4-FFF2-40B4-BE49-F238E27FC236}">
                <a16:creationId xmlns:a16="http://schemas.microsoft.com/office/drawing/2014/main" id="{B25A0A15-4390-496E-8AE8-FDFE09859BC7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81248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fined-req-7-8">
            <a:extLst>
              <a:ext uri="{FF2B5EF4-FFF2-40B4-BE49-F238E27FC236}">
                <a16:creationId xmlns:a16="http://schemas.microsoft.com/office/drawing/2014/main" id="{731B77C4-BD5B-4332-910D-AED8378315BB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38385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fined-req-7-9">
            <a:extLst>
              <a:ext uri="{FF2B5EF4-FFF2-40B4-BE49-F238E27FC236}">
                <a16:creationId xmlns:a16="http://schemas.microsoft.com/office/drawing/2014/main" id="{8EF21172-E601-4E5F-83CF-4ACC17A98013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3" name="refined-req-7-14">
            <a:extLst>
              <a:ext uri="{FF2B5EF4-FFF2-40B4-BE49-F238E27FC236}">
                <a16:creationId xmlns:a16="http://schemas.microsoft.com/office/drawing/2014/main" id="{980BBEA3-B5B6-4564-80C8-B7BE46502611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refined-req-7-15">
            <a:extLst>
              <a:ext uri="{FF2B5EF4-FFF2-40B4-BE49-F238E27FC236}">
                <a16:creationId xmlns:a16="http://schemas.microsoft.com/office/drawing/2014/main" id="{383F3693-0846-4D2A-9C61-80935514156A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Поиск начинается с компании</a:t>
            </a:r>
          </a:p>
        </p:txBody>
      </p:sp>
      <p:sp>
        <p:nvSpPr>
          <p:cNvPr id="15" name="refined-req-7-16">
            <a:extLst>
              <a:ext uri="{FF2B5EF4-FFF2-40B4-BE49-F238E27FC236}">
                <a16:creationId xmlns:a16="http://schemas.microsoft.com/office/drawing/2014/main" id="{0CDA17B0-08E6-4E7E-A2A1-CA5B9DBA4A70}"/>
              </a:ext>
            </a:extLst>
          </p:cNvPr>
          <p:cNvSpPr>
            <a:spLocks noGrp="1"/>
          </p:cNvSpPr>
          <p:nvPr/>
        </p:nvSpPr>
        <p:spPr>
          <a:xfrm>
            <a:off x="457200" y="2333625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Запрос «Найди субсидии по данным моей компании» отправляется вместе с</a:t>
            </a:r>
          </a:p>
        </p:txBody>
      </p:sp>
      <p:sp>
        <p:nvSpPr>
          <p:cNvPr id="16" name="refined-req-7-16">
            <a:extLst>
              <a:ext uri="{FF2B5EF4-FFF2-40B4-BE49-F238E27FC236}">
                <a16:creationId xmlns:a16="http://schemas.microsoft.com/office/drawing/2014/main" id="{BC3C8F0B-27BD-4455-949B-01A681E3E97D}"/>
              </a:ext>
            </a:extLst>
          </p:cNvPr>
          <p:cNvSpPr>
            <a:spLocks noGrp="1"/>
          </p:cNvSpPr>
          <p:nvPr/>
        </p:nvSpPr>
        <p:spPr>
          <a:xfrm>
            <a:off x="457200" y="2569518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профилем: ИНН, регион, ОКВЭД и статус бизнеса. ИИ учитывает задачу</a:t>
            </a:r>
          </a:p>
        </p:txBody>
      </p:sp>
      <p:sp>
        <p:nvSpPr>
          <p:cNvPr id="17" name="refined-req-7-16">
            <a:extLst>
              <a:ext uri="{FF2B5EF4-FFF2-40B4-BE49-F238E27FC236}">
                <a16:creationId xmlns:a16="http://schemas.microsoft.com/office/drawing/2014/main" id="{018968C4-4CFD-46AE-8863-EFB92A65BC18}"/>
              </a:ext>
            </a:extLst>
          </p:cNvPr>
          <p:cNvSpPr>
            <a:spLocks noGrp="1"/>
          </p:cNvSpPr>
          <p:nvPr/>
        </p:nvSpPr>
        <p:spPr>
          <a:xfrm>
            <a:off x="457200" y="2805410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предпринимателя, а правила сервиса проверяют формальные критерии программ.</a:t>
            </a:r>
          </a:p>
        </p:txBody>
      </p:sp>
      <p:sp>
        <p:nvSpPr>
          <p:cNvPr id="18" name="refined-req-7-18">
            <a:extLst>
              <a:ext uri="{FF2B5EF4-FFF2-40B4-BE49-F238E27FC236}">
                <a16:creationId xmlns:a16="http://schemas.microsoft.com/office/drawing/2014/main" id="{7485EB6C-20B7-4E8C-A260-8B0D836A8CE3}"/>
              </a:ext>
            </a:extLst>
          </p:cNvPr>
          <p:cNvSpPr>
            <a:spLocks noGrp="1"/>
          </p:cNvSpPr>
          <p:nvPr/>
        </p:nvSpPr>
        <p:spPr>
          <a:xfrm>
            <a:off x="533400" y="332422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refined-req-7-19">
            <a:extLst>
              <a:ext uri="{FF2B5EF4-FFF2-40B4-BE49-F238E27FC236}">
                <a16:creationId xmlns:a16="http://schemas.microsoft.com/office/drawing/2014/main" id="{C05FDC69-72FA-43A3-B275-9F2CB1B1ED66}"/>
              </a:ext>
            </a:extLst>
          </p:cNvPr>
          <p:cNvSpPr>
            <a:spLocks noGrp="1"/>
          </p:cNvSpPr>
          <p:nvPr/>
        </p:nvSpPr>
        <p:spPr>
          <a:xfrm>
            <a:off x="971550" y="329565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Объяснение вместо нерелевантного списка</a:t>
            </a:r>
          </a:p>
        </p:txBody>
      </p:sp>
      <p:sp>
        <p:nvSpPr>
          <p:cNvPr id="20" name="refined-req-7-20">
            <a:extLst>
              <a:ext uri="{FF2B5EF4-FFF2-40B4-BE49-F238E27FC236}">
                <a16:creationId xmlns:a16="http://schemas.microsoft.com/office/drawing/2014/main" id="{C373B735-BD54-4A72-B789-D1FEAAEE4882}"/>
              </a:ext>
            </a:extLst>
          </p:cNvPr>
          <p:cNvSpPr>
            <a:spLocks noGrp="1"/>
          </p:cNvSpPr>
          <p:nvPr/>
        </p:nvSpPr>
        <p:spPr>
          <a:xfrm>
            <a:off x="457200" y="3686175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Ассистент связывает требования меры с данными компании и объясняет, чего не</a:t>
            </a:r>
          </a:p>
        </p:txBody>
      </p:sp>
      <p:sp>
        <p:nvSpPr>
          <p:cNvPr id="21" name="refined-req-7-20">
            <a:extLst>
              <a:ext uri="{FF2B5EF4-FFF2-40B4-BE49-F238E27FC236}">
                <a16:creationId xmlns:a16="http://schemas.microsoft.com/office/drawing/2014/main" id="{43F47272-AF25-459E-8EC0-6B27C249DBD0}"/>
              </a:ext>
            </a:extLst>
          </p:cNvPr>
          <p:cNvSpPr>
            <a:spLocks noGrp="1"/>
          </p:cNvSpPr>
          <p:nvPr/>
        </p:nvSpPr>
        <p:spPr>
          <a:xfrm>
            <a:off x="457200" y="3922068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хватает для участия. В записи он различает грант на инновационную разработку и</a:t>
            </a:r>
          </a:p>
        </p:txBody>
      </p:sp>
      <p:sp>
        <p:nvSpPr>
          <p:cNvPr id="22" name="refined-req-7-20">
            <a:extLst>
              <a:ext uri="{FF2B5EF4-FFF2-40B4-BE49-F238E27FC236}">
                <a16:creationId xmlns:a16="http://schemas.microsoft.com/office/drawing/2014/main" id="{AB1A14C5-E88B-49D6-AB0C-4D29D4DF49A8}"/>
              </a:ext>
            </a:extLst>
          </p:cNvPr>
          <p:cNvSpPr>
            <a:spLocks noGrp="1"/>
          </p:cNvSpPr>
          <p:nvPr/>
        </p:nvSpPr>
        <p:spPr>
          <a:xfrm>
            <a:off x="457200" y="4157960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заём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на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оборудование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23" name="refined-req-7-20">
            <a:extLst>
              <a:ext uri="{FF2B5EF4-FFF2-40B4-BE49-F238E27FC236}">
                <a16:creationId xmlns:a16="http://schemas.microsoft.com/office/drawing/2014/main" id="{B7BEA5D7-69A3-4AE2-AFD8-96881DDEC114}"/>
              </a:ext>
            </a:extLst>
          </p:cNvPr>
          <p:cNvSpPr>
            <a:spLocks noGrp="1"/>
          </p:cNvSpPr>
          <p:nvPr/>
        </p:nvSpPr>
        <p:spPr>
          <a:xfrm>
            <a:off x="457200" y="4393853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lang="ru-RU" sz="1575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fined-req-7-22">
            <a:extLst>
              <a:ext uri="{FF2B5EF4-FFF2-40B4-BE49-F238E27FC236}">
                <a16:creationId xmlns:a16="http://schemas.microsoft.com/office/drawing/2014/main" id="{201CB248-297E-4BF0-8E00-84E00B447B94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fined-req-7-23">
            <a:extLst>
              <a:ext uri="{FF2B5EF4-FFF2-40B4-BE49-F238E27FC236}">
                <a16:creationId xmlns:a16="http://schemas.microsoft.com/office/drawing/2014/main" id="{32641740-83D2-4C5A-97CB-3F9DDEE4A76D}"/>
              </a:ext>
            </a:extLst>
          </p:cNvPr>
          <p:cNvSpPr>
            <a:spLocks noGrp="1"/>
          </p:cNvSpPr>
          <p:nvPr/>
        </p:nvSpPr>
        <p:spPr>
          <a:xfrm>
            <a:off x="971550" y="4886325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От</a:t>
            </a:r>
            <a:r>
              <a:rPr sz="187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ответа</a:t>
            </a:r>
            <a:r>
              <a:rPr sz="187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к </a:t>
            </a:r>
            <a:r>
              <a:rPr sz="187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условиям</a:t>
            </a:r>
            <a:r>
              <a:rPr sz="187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программы</a:t>
            </a:r>
            <a:endParaRPr sz="1875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fined-req-7-24">
            <a:extLst>
              <a:ext uri="{FF2B5EF4-FFF2-40B4-BE49-F238E27FC236}">
                <a16:creationId xmlns:a16="http://schemas.microsoft.com/office/drawing/2014/main" id="{BBEB6987-4ACB-476C-BFEC-FA4824E0E4A2}"/>
              </a:ext>
            </a:extLst>
          </p:cNvPr>
          <p:cNvSpPr>
            <a:spLocks noGrp="1"/>
          </p:cNvSpPr>
          <p:nvPr/>
        </p:nvSpPr>
        <p:spPr>
          <a:xfrm>
            <a:off x="457200" y="5276850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Предприниматель открывает найденную меру прямо из ответа ИИ, изучает</a:t>
            </a:r>
          </a:p>
        </p:txBody>
      </p:sp>
      <p:sp>
        <p:nvSpPr>
          <p:cNvPr id="27" name="refined-req-7-24">
            <a:extLst>
              <a:ext uri="{FF2B5EF4-FFF2-40B4-BE49-F238E27FC236}">
                <a16:creationId xmlns:a16="http://schemas.microsoft.com/office/drawing/2014/main" id="{A00B411D-ECC2-4045-BB0E-7CDC2F5CAB6F}"/>
              </a:ext>
            </a:extLst>
          </p:cNvPr>
          <p:cNvSpPr>
            <a:spLocks noGrp="1"/>
          </p:cNvSpPr>
          <p:nvPr/>
        </p:nvSpPr>
        <p:spPr>
          <a:xfrm>
            <a:off x="457200" y="5512743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ограничения и переходит к документам. Данные компании остаются в контексте: не</a:t>
            </a:r>
          </a:p>
        </p:txBody>
      </p:sp>
      <p:sp>
        <p:nvSpPr>
          <p:cNvPr id="28" name="refined-req-7-24">
            <a:extLst>
              <a:ext uri="{FF2B5EF4-FFF2-40B4-BE49-F238E27FC236}">
                <a16:creationId xmlns:a16="http://schemas.microsoft.com/office/drawing/2014/main" id="{B614804D-8C2C-46E3-90DC-38A88E872D44}"/>
              </a:ext>
            </a:extLst>
          </p:cNvPr>
          <p:cNvSpPr>
            <a:spLocks noGrp="1"/>
          </p:cNvSpPr>
          <p:nvPr/>
        </p:nvSpPr>
        <p:spPr>
          <a:xfrm>
            <a:off x="457200" y="5748635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нужно заново объяснять, чем занимается бизнес. ИИ помогает разобраться с</a:t>
            </a:r>
          </a:p>
        </p:txBody>
      </p:sp>
      <p:sp>
        <p:nvSpPr>
          <p:cNvPr id="29" name="refined-req-7-24">
            <a:extLst>
              <a:ext uri="{FF2B5EF4-FFF2-40B4-BE49-F238E27FC236}">
                <a16:creationId xmlns:a16="http://schemas.microsoft.com/office/drawing/2014/main" id="{C2FFD91D-00F6-4206-8D12-53338B146ACB}"/>
              </a:ext>
            </a:extLst>
          </p:cNvPr>
          <p:cNvSpPr>
            <a:spLocks noGrp="1"/>
          </p:cNvSpPr>
          <p:nvPr/>
        </p:nvSpPr>
        <p:spPr>
          <a:xfrm>
            <a:off x="457200" y="5984528"/>
            <a:ext cx="80105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ограничениями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того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как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предприниматель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потратит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на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пакет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документов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0" name="refined-req-7-25">
            <a:extLst>
              <a:ext uri="{FF2B5EF4-FFF2-40B4-BE49-F238E27FC236}">
                <a16:creationId xmlns:a16="http://schemas.microsoft.com/office/drawing/2014/main" id="{337FED87-9861-4B2D-868E-852477B7746A}"/>
              </a:ext>
            </a:extLst>
          </p:cNvPr>
          <p:cNvSpPr>
            <a:spLocks noGrp="1"/>
          </p:cNvSpPr>
          <p:nvPr/>
        </p:nvSpPr>
        <p:spPr>
          <a:xfrm>
            <a:off x="4953000" y="6667500"/>
            <a:ext cx="644842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0" y="763661"/>
            <a:ext cx="2533650" cy="5483078"/>
          </a:xfrm>
          <a:prstGeom prst="roundRect">
            <a:avLst>
              <a:gd name="adj" fmla="val 8271"/>
            </a:avLst>
          </a:prstGeom>
        </p:spPr>
      </p:pic>
    </p:spTree>
    <p:extLst>
      <p:ext uri="{BB962C8B-B14F-4D97-AF65-F5344CB8AC3E}">
        <p14:creationId xmlns:p14="http://schemas.microsoft.com/office/powerpoint/2010/main" val="1506810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8-7">
            <a:extLst>
              <a:ext uri="{FF2B5EF4-FFF2-40B4-BE49-F238E27FC236}">
                <a16:creationId xmlns:a16="http://schemas.microsoft.com/office/drawing/2014/main" id="{7508D249-45D5-4665-8DC7-51CBF5D8FCB6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8-10">
            <a:extLst>
              <a:ext uri="{FF2B5EF4-FFF2-40B4-BE49-F238E27FC236}">
                <a16:creationId xmlns:a16="http://schemas.microsoft.com/office/drawing/2014/main" id="{093FF396-64AC-43B0-AEA0-4447703C1772}"/>
              </a:ext>
            </a:extLst>
          </p:cNvPr>
          <p:cNvSpPr>
            <a:spLocks noGrp="1"/>
          </p:cNvSpPr>
          <p:nvPr/>
        </p:nvSpPr>
        <p:spPr>
          <a:xfrm>
            <a:off x="8896350" y="609600"/>
            <a:ext cx="2838450" cy="5895975"/>
          </a:xfrm>
          <a:prstGeom prst="roundRect">
            <a:avLst>
              <a:gd name="adj" fmla="val 10403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4" name="refined-req-8-11">
            <a:extLst>
              <a:ext uri="{FF2B5EF4-FFF2-40B4-BE49-F238E27FC236}">
                <a16:creationId xmlns:a16="http://schemas.microsoft.com/office/drawing/2014/main" id="{8E7C725D-25D5-42D0-87F7-FF0D294E26D0}"/>
              </a:ext>
            </a:extLst>
          </p:cNvPr>
          <p:cNvSpPr>
            <a:spLocks noGrp="1"/>
          </p:cNvSpPr>
          <p:nvPr/>
        </p:nvSpPr>
        <p:spPr>
          <a:xfrm>
            <a:off x="9001125" y="714375"/>
            <a:ext cx="2628900" cy="5686425"/>
          </a:xfrm>
          <a:prstGeom prst="roundRect">
            <a:avLst>
              <a:gd name="adj" fmla="val 9420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5" name="refined-req-8-13">
            <a:extLst>
              <a:ext uri="{FF2B5EF4-FFF2-40B4-BE49-F238E27FC236}">
                <a16:creationId xmlns:a16="http://schemas.microsoft.com/office/drawing/2014/main" id="{C47CB4C9-C221-4D9D-8ACC-E95C8D3AC1EE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6" name="refined-req-8-17">
            <a:extLst>
              <a:ext uri="{FF2B5EF4-FFF2-40B4-BE49-F238E27FC236}">
                <a16:creationId xmlns:a16="http://schemas.microsoft.com/office/drawing/2014/main" id="{26D31300-1CA0-416A-925C-EA77F7250D1D}"/>
              </a:ext>
            </a:extLst>
          </p:cNvPr>
          <p:cNvSpPr>
            <a:spLocks noGrp="1"/>
          </p:cNvSpPr>
          <p:nvPr/>
        </p:nvSpPr>
        <p:spPr>
          <a:xfrm>
            <a:off x="457200" y="324802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7" name="refined-req-8-21">
            <a:extLst>
              <a:ext uri="{FF2B5EF4-FFF2-40B4-BE49-F238E27FC236}">
                <a16:creationId xmlns:a16="http://schemas.microsoft.com/office/drawing/2014/main" id="{AC613E6F-F468-48E3-80A4-F3094DD13399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8" name="refined-req-8-4">
            <a:extLst>
              <a:ext uri="{FF2B5EF4-FFF2-40B4-BE49-F238E27FC236}">
                <a16:creationId xmlns:a16="http://schemas.microsoft.com/office/drawing/2014/main" id="{B8823C7B-A5BB-4ABF-8408-34A2538DAD1D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775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fined-req-8-5">
            <a:extLst>
              <a:ext uri="{FF2B5EF4-FFF2-40B4-BE49-F238E27FC236}">
                <a16:creationId xmlns:a16="http://schemas.microsoft.com/office/drawing/2014/main" id="{A7285609-7A73-46C5-9641-D60D6B74E432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8124825" cy="4100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ИИ готовит и проверяет документы</a:t>
            </a:r>
          </a:p>
        </p:txBody>
      </p:sp>
      <p:sp>
        <p:nvSpPr>
          <p:cNvPr id="10" name="refined-req-8-6">
            <a:extLst>
              <a:ext uri="{FF2B5EF4-FFF2-40B4-BE49-F238E27FC236}">
                <a16:creationId xmlns:a16="http://schemas.microsoft.com/office/drawing/2014/main" id="{593EEEE7-8BB4-4E7D-9D26-26D5D10F5B34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81248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fined-req-8-8">
            <a:extLst>
              <a:ext uri="{FF2B5EF4-FFF2-40B4-BE49-F238E27FC236}">
                <a16:creationId xmlns:a16="http://schemas.microsoft.com/office/drawing/2014/main" id="{D6B4046C-32B9-488B-AF04-148AD7B5E0D8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38385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fined-req-8-9">
            <a:extLst>
              <a:ext uri="{FF2B5EF4-FFF2-40B4-BE49-F238E27FC236}">
                <a16:creationId xmlns:a16="http://schemas.microsoft.com/office/drawing/2014/main" id="{F0E3E9EE-5CB2-4DD2-B5CC-45FBEDC289D8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3" name="refined-req-8-14">
            <a:extLst>
              <a:ext uri="{FF2B5EF4-FFF2-40B4-BE49-F238E27FC236}">
                <a16:creationId xmlns:a16="http://schemas.microsoft.com/office/drawing/2014/main" id="{05B5FD48-50C2-48F7-B036-4264B7775D48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refined-req-8-15">
            <a:extLst>
              <a:ext uri="{FF2B5EF4-FFF2-40B4-BE49-F238E27FC236}">
                <a16:creationId xmlns:a16="http://schemas.microsoft.com/office/drawing/2014/main" id="{DC728F5C-6F04-4540-A2D6-D8C3C7A616BF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Данные компании используются повторно</a:t>
            </a:r>
          </a:p>
        </p:txBody>
      </p:sp>
      <p:sp>
        <p:nvSpPr>
          <p:cNvPr id="15" name="refined-req-8-16">
            <a:extLst>
              <a:ext uri="{FF2B5EF4-FFF2-40B4-BE49-F238E27FC236}">
                <a16:creationId xmlns:a16="http://schemas.microsoft.com/office/drawing/2014/main" id="{0A6FC44F-9E9D-4FBE-A4C7-7C184093BF07}"/>
              </a:ext>
            </a:extLst>
          </p:cNvPr>
          <p:cNvSpPr>
            <a:spLocks noGrp="1"/>
          </p:cNvSpPr>
          <p:nvPr/>
        </p:nvSpPr>
        <p:spPr>
          <a:xfrm>
            <a:off x="457200" y="2333625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Профиль, задача, бюджет и выбранная мера остаются в одном контексте. Из загруженных</a:t>
            </a:r>
          </a:p>
        </p:txBody>
      </p:sp>
      <p:sp>
        <p:nvSpPr>
          <p:cNvPr id="16" name="refined-req-8-16">
            <a:extLst>
              <a:ext uri="{FF2B5EF4-FFF2-40B4-BE49-F238E27FC236}">
                <a16:creationId xmlns:a16="http://schemas.microsoft.com/office/drawing/2014/main" id="{B3E6DDA2-5AF1-48DA-8DC6-F341973FCEB9}"/>
              </a:ext>
            </a:extLst>
          </p:cNvPr>
          <p:cNvSpPr>
            <a:spLocks noGrp="1"/>
          </p:cNvSpPr>
          <p:nvPr/>
        </p:nvSpPr>
        <p:spPr>
          <a:xfrm>
            <a:off x="457200" y="2552700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TXT, PDF и DOCX приложение извлекает текст; для поддерживаемых сканов доступно</a:t>
            </a:r>
          </a:p>
        </p:txBody>
      </p:sp>
      <p:sp>
        <p:nvSpPr>
          <p:cNvPr id="17" name="refined-req-8-16">
            <a:extLst>
              <a:ext uri="{FF2B5EF4-FFF2-40B4-BE49-F238E27FC236}">
                <a16:creationId xmlns:a16="http://schemas.microsoft.com/office/drawing/2014/main" id="{3AF743C8-BA5E-4D08-91F6-64AD1EE757C0}"/>
              </a:ext>
            </a:extLst>
          </p:cNvPr>
          <p:cNvSpPr>
            <a:spLocks noGrp="1"/>
          </p:cNvSpPr>
          <p:nvPr/>
        </p:nvSpPr>
        <p:spPr>
          <a:xfrm>
            <a:off x="457200" y="2771775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распознавание. Предприниматель проверяет сведения перед использованием.</a:t>
            </a:r>
          </a:p>
        </p:txBody>
      </p:sp>
      <p:sp>
        <p:nvSpPr>
          <p:cNvPr id="18" name="refined-req-8-18">
            <a:extLst>
              <a:ext uri="{FF2B5EF4-FFF2-40B4-BE49-F238E27FC236}">
                <a16:creationId xmlns:a16="http://schemas.microsoft.com/office/drawing/2014/main" id="{2D39096F-5CCC-43DC-B657-83343B83DA50}"/>
              </a:ext>
            </a:extLst>
          </p:cNvPr>
          <p:cNvSpPr>
            <a:spLocks noGrp="1"/>
          </p:cNvSpPr>
          <p:nvPr/>
        </p:nvSpPr>
        <p:spPr>
          <a:xfrm>
            <a:off x="533400" y="326707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refined-req-8-19">
            <a:extLst>
              <a:ext uri="{FF2B5EF4-FFF2-40B4-BE49-F238E27FC236}">
                <a16:creationId xmlns:a16="http://schemas.microsoft.com/office/drawing/2014/main" id="{78175102-A34D-411C-8A8A-5C1E0DFDE1BF}"/>
              </a:ext>
            </a:extLst>
          </p:cNvPr>
          <p:cNvSpPr>
            <a:spLocks noGrp="1"/>
          </p:cNvSpPr>
          <p:nvPr/>
        </p:nvSpPr>
        <p:spPr>
          <a:xfrm>
            <a:off x="971550" y="323850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ИИ помогает составить пакет</a:t>
            </a:r>
          </a:p>
        </p:txBody>
      </p:sp>
      <p:sp>
        <p:nvSpPr>
          <p:cNvPr id="20" name="refined-req-8-20">
            <a:extLst>
              <a:ext uri="{FF2B5EF4-FFF2-40B4-BE49-F238E27FC236}">
                <a16:creationId xmlns:a16="http://schemas.microsoft.com/office/drawing/2014/main" id="{B4099143-23AC-4C0D-8648-2DCBE7242734}"/>
              </a:ext>
            </a:extLst>
          </p:cNvPr>
          <p:cNvSpPr>
            <a:spLocks noGrp="1"/>
          </p:cNvSpPr>
          <p:nvPr/>
        </p:nvSpPr>
        <p:spPr>
          <a:xfrm>
            <a:off x="457200" y="3629025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Ассистент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получает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требования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программы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материалы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проекта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формирует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fined-req-8-20">
            <a:extLst>
              <a:ext uri="{FF2B5EF4-FFF2-40B4-BE49-F238E27FC236}">
                <a16:creationId xmlns:a16="http://schemas.microsoft.com/office/drawing/2014/main" id="{C4A250C1-E0F7-4AC5-81E4-9445B7D48808}"/>
              </a:ext>
            </a:extLst>
          </p:cNvPr>
          <p:cNvSpPr>
            <a:spLocks noGrp="1"/>
          </p:cNvSpPr>
          <p:nvPr/>
        </p:nvSpPr>
        <p:spPr>
          <a:xfrm>
            <a:off x="457200" y="3848100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редактируемый черновик и помогает доработать содержание. Вместо самостоятельного</a:t>
            </a:r>
          </a:p>
        </p:txBody>
      </p:sp>
      <p:sp>
        <p:nvSpPr>
          <p:cNvPr id="22" name="refined-req-8-20">
            <a:extLst>
              <a:ext uri="{FF2B5EF4-FFF2-40B4-BE49-F238E27FC236}">
                <a16:creationId xmlns:a16="http://schemas.microsoft.com/office/drawing/2014/main" id="{C21C90C7-7AA8-417B-9BDF-4CD831778ACA}"/>
              </a:ext>
            </a:extLst>
          </p:cNvPr>
          <p:cNvSpPr>
            <a:spLocks noGrp="1"/>
          </p:cNvSpPr>
          <p:nvPr/>
        </p:nvSpPr>
        <p:spPr>
          <a:xfrm>
            <a:off x="457200" y="4067175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разбора каждого документа предприниматель следует понятным шагам и подтверждает</a:t>
            </a:r>
          </a:p>
        </p:txBody>
      </p:sp>
      <p:sp>
        <p:nvSpPr>
          <p:cNvPr id="23" name="refined-req-8-20">
            <a:extLst>
              <a:ext uri="{FF2B5EF4-FFF2-40B4-BE49-F238E27FC236}">
                <a16:creationId xmlns:a16="http://schemas.microsoft.com/office/drawing/2014/main" id="{2028EED5-CC03-4B7E-AA1A-F4D34B695EEB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изменения.</a:t>
            </a:r>
          </a:p>
        </p:txBody>
      </p:sp>
      <p:sp>
        <p:nvSpPr>
          <p:cNvPr id="24" name="refined-req-8-22">
            <a:extLst>
              <a:ext uri="{FF2B5EF4-FFF2-40B4-BE49-F238E27FC236}">
                <a16:creationId xmlns:a16="http://schemas.microsoft.com/office/drawing/2014/main" id="{B6EB1590-58A0-4A3E-B9A0-DB55E95593BF}"/>
              </a:ext>
            </a:extLst>
          </p:cNvPr>
          <p:cNvSpPr>
            <a:spLocks noGrp="1"/>
          </p:cNvSpPr>
          <p:nvPr/>
        </p:nvSpPr>
        <p:spPr>
          <a:xfrm>
            <a:off x="533400" y="4781550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fined-req-8-23">
            <a:extLst>
              <a:ext uri="{FF2B5EF4-FFF2-40B4-BE49-F238E27FC236}">
                <a16:creationId xmlns:a16="http://schemas.microsoft.com/office/drawing/2014/main" id="{90C60811-AAB2-4C68-BE0C-54E177B4EFA6}"/>
              </a:ext>
            </a:extLst>
          </p:cNvPr>
          <p:cNvSpPr>
            <a:spLocks noGrp="1"/>
          </p:cNvSpPr>
          <p:nvPr/>
        </p:nvSpPr>
        <p:spPr>
          <a:xfrm>
            <a:off x="971550" y="4752975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Проверка до подачи</a:t>
            </a:r>
          </a:p>
        </p:txBody>
      </p:sp>
      <p:sp>
        <p:nvSpPr>
          <p:cNvPr id="26" name="refined-req-8-24">
            <a:extLst>
              <a:ext uri="{FF2B5EF4-FFF2-40B4-BE49-F238E27FC236}">
                <a16:creationId xmlns:a16="http://schemas.microsoft.com/office/drawing/2014/main" id="{F6AF7C63-F16B-4ECB-8E16-95506F4C8C18}"/>
              </a:ext>
            </a:extLst>
          </p:cNvPr>
          <p:cNvSpPr>
            <a:spLocks noGrp="1"/>
          </p:cNvSpPr>
          <p:nvPr/>
        </p:nvSpPr>
        <p:spPr>
          <a:xfrm>
            <a:off x="457200" y="5143500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Сервис проверяет комплектность, ИИ отмечает пробелы и противоречия в содержании.</a:t>
            </a:r>
          </a:p>
        </p:txBody>
      </p:sp>
      <p:sp>
        <p:nvSpPr>
          <p:cNvPr id="27" name="refined-req-8-24">
            <a:extLst>
              <a:ext uri="{FF2B5EF4-FFF2-40B4-BE49-F238E27FC236}">
                <a16:creationId xmlns:a16="http://schemas.microsoft.com/office/drawing/2014/main" id="{774DE6AA-EC5F-41D5-B879-8B1F113287B1}"/>
              </a:ext>
            </a:extLst>
          </p:cNvPr>
          <p:cNvSpPr>
            <a:spLocks noGrp="1"/>
          </p:cNvSpPr>
          <p:nvPr/>
        </p:nvSpPr>
        <p:spPr>
          <a:xfrm>
            <a:off x="457200" y="5362575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Пользователь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исправляет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замечания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выгружает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тексты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записи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пример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заявки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ФРП</a:t>
            </a:r>
          </a:p>
        </p:txBody>
      </p:sp>
      <p:sp>
        <p:nvSpPr>
          <p:cNvPr id="28" name="refined-req-8-24">
            <a:extLst>
              <a:ext uri="{FF2B5EF4-FFF2-40B4-BE49-F238E27FC236}">
                <a16:creationId xmlns:a16="http://schemas.microsoft.com/office/drawing/2014/main" id="{F6D5FA0A-2E7B-489E-AE5A-E61EE2EAFD05}"/>
              </a:ext>
            </a:extLst>
          </p:cNvPr>
          <p:cNvSpPr>
            <a:spLocks noGrp="1"/>
          </p:cNvSpPr>
          <p:nvPr/>
        </p:nvSpPr>
        <p:spPr>
          <a:xfrm>
            <a:off x="457200" y="5581650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на оборудование с подготовленными ответами ИИ. Такая проверка снижает риск ошибок,</a:t>
            </a:r>
          </a:p>
        </p:txBody>
      </p:sp>
      <p:sp>
        <p:nvSpPr>
          <p:cNvPr id="29" name="refined-req-8-24">
            <a:extLst>
              <a:ext uri="{FF2B5EF4-FFF2-40B4-BE49-F238E27FC236}">
                <a16:creationId xmlns:a16="http://schemas.microsoft.com/office/drawing/2014/main" id="{195B0D7B-BC1D-4FF5-A47C-B50A4ED29CBA}"/>
              </a:ext>
            </a:extLst>
          </p:cNvPr>
          <p:cNvSpPr>
            <a:spLocks noGrp="1"/>
          </p:cNvSpPr>
          <p:nvPr/>
        </p:nvSpPr>
        <p:spPr>
          <a:xfrm>
            <a:off x="457200" y="5800725"/>
            <a:ext cx="80105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но не гарантирует одобрение.</a:t>
            </a:r>
          </a:p>
        </p:txBody>
      </p:sp>
      <p:sp>
        <p:nvSpPr>
          <p:cNvPr id="30" name="refined-req-8-25">
            <a:extLst>
              <a:ext uri="{FF2B5EF4-FFF2-40B4-BE49-F238E27FC236}">
                <a16:creationId xmlns:a16="http://schemas.microsoft.com/office/drawing/2014/main" id="{A96B3108-5DC3-4D18-86EC-B1A01399B23B}"/>
              </a:ext>
            </a:extLst>
          </p:cNvPr>
          <p:cNvSpPr>
            <a:spLocks noGrp="1"/>
          </p:cNvSpPr>
          <p:nvPr/>
        </p:nvSpPr>
        <p:spPr>
          <a:xfrm>
            <a:off x="4953000" y="6667500"/>
            <a:ext cx="644842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0" y="763661"/>
            <a:ext cx="2533650" cy="5483078"/>
          </a:xfrm>
          <a:prstGeom prst="roundRect">
            <a:avLst>
              <a:gd name="adj" fmla="val 8271"/>
            </a:avLst>
          </a:prstGeom>
        </p:spPr>
      </p:pic>
    </p:spTree>
    <p:extLst>
      <p:ext uri="{BB962C8B-B14F-4D97-AF65-F5344CB8AC3E}">
        <p14:creationId xmlns:p14="http://schemas.microsoft.com/office/powerpoint/2010/main" val="150446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9-7">
            <a:extLst>
              <a:ext uri="{FF2B5EF4-FFF2-40B4-BE49-F238E27FC236}">
                <a16:creationId xmlns:a16="http://schemas.microsoft.com/office/drawing/2014/main" id="{8FF2F53B-CA75-4E1A-9292-E4477F07DDCD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9-10">
            <a:extLst>
              <a:ext uri="{FF2B5EF4-FFF2-40B4-BE49-F238E27FC236}">
                <a16:creationId xmlns:a16="http://schemas.microsoft.com/office/drawing/2014/main" id="{079A6E4C-1346-42A4-B90B-A6DAE888A68A}"/>
              </a:ext>
            </a:extLst>
          </p:cNvPr>
          <p:cNvSpPr>
            <a:spLocks noGrp="1"/>
          </p:cNvSpPr>
          <p:nvPr/>
        </p:nvSpPr>
        <p:spPr>
          <a:xfrm>
            <a:off x="8896350" y="609600"/>
            <a:ext cx="2838450" cy="5895975"/>
          </a:xfrm>
          <a:prstGeom prst="roundRect">
            <a:avLst>
              <a:gd name="adj" fmla="val 10403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4" name="refined-req-9-11">
            <a:extLst>
              <a:ext uri="{FF2B5EF4-FFF2-40B4-BE49-F238E27FC236}">
                <a16:creationId xmlns:a16="http://schemas.microsoft.com/office/drawing/2014/main" id="{D90DE144-DC2D-496B-81EE-E8F10E018D5A}"/>
              </a:ext>
            </a:extLst>
          </p:cNvPr>
          <p:cNvSpPr>
            <a:spLocks noGrp="1"/>
          </p:cNvSpPr>
          <p:nvPr/>
        </p:nvSpPr>
        <p:spPr>
          <a:xfrm>
            <a:off x="9001125" y="714375"/>
            <a:ext cx="2628900" cy="5686425"/>
          </a:xfrm>
          <a:prstGeom prst="roundRect">
            <a:avLst>
              <a:gd name="adj" fmla="val 9420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5" name="refined-req-9-13">
            <a:extLst>
              <a:ext uri="{FF2B5EF4-FFF2-40B4-BE49-F238E27FC236}">
                <a16:creationId xmlns:a16="http://schemas.microsoft.com/office/drawing/2014/main" id="{AFE09AA7-450A-4309-A5DC-DDB05E611524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6" name="refined-req-9-17">
            <a:extLst>
              <a:ext uri="{FF2B5EF4-FFF2-40B4-BE49-F238E27FC236}">
                <a16:creationId xmlns:a16="http://schemas.microsoft.com/office/drawing/2014/main" id="{1DA08788-9273-41C2-AB1A-462443B24433}"/>
              </a:ext>
            </a:extLst>
          </p:cNvPr>
          <p:cNvSpPr>
            <a:spLocks noGrp="1"/>
          </p:cNvSpPr>
          <p:nvPr/>
        </p:nvSpPr>
        <p:spPr>
          <a:xfrm>
            <a:off x="457200" y="349567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7" name="refined-req-9-21">
            <a:extLst>
              <a:ext uri="{FF2B5EF4-FFF2-40B4-BE49-F238E27FC236}">
                <a16:creationId xmlns:a16="http://schemas.microsoft.com/office/drawing/2014/main" id="{54A86955-6C66-409E-A73E-4ABB21B1FBAF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8" name="refined-req-9-4">
            <a:extLst>
              <a:ext uri="{FF2B5EF4-FFF2-40B4-BE49-F238E27FC236}">
                <a16:creationId xmlns:a16="http://schemas.microsoft.com/office/drawing/2014/main" id="{7685FD9F-E9FB-43E2-95DA-33D77C0AE669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775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fined-req-9-5">
            <a:extLst>
              <a:ext uri="{FF2B5EF4-FFF2-40B4-BE49-F238E27FC236}">
                <a16:creationId xmlns:a16="http://schemas.microsoft.com/office/drawing/2014/main" id="{6D874882-3704-49AB-91E1-99F3DADA6731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8124825" cy="4100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6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Сопровождение продолжается после заявки</a:t>
            </a:r>
          </a:p>
        </p:txBody>
      </p:sp>
      <p:sp>
        <p:nvSpPr>
          <p:cNvPr id="10" name="refined-req-9-6">
            <a:extLst>
              <a:ext uri="{FF2B5EF4-FFF2-40B4-BE49-F238E27FC236}">
                <a16:creationId xmlns:a16="http://schemas.microsoft.com/office/drawing/2014/main" id="{CA0C5F30-F9AF-4761-9975-8A34B5C1E149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81248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fined-req-9-8">
            <a:extLst>
              <a:ext uri="{FF2B5EF4-FFF2-40B4-BE49-F238E27FC236}">
                <a16:creationId xmlns:a16="http://schemas.microsoft.com/office/drawing/2014/main" id="{1846558F-2061-4636-980E-6CEB82D27689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38385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fined-req-9-9">
            <a:extLst>
              <a:ext uri="{FF2B5EF4-FFF2-40B4-BE49-F238E27FC236}">
                <a16:creationId xmlns:a16="http://schemas.microsoft.com/office/drawing/2014/main" id="{23F2EEE3-6CD5-4972-AC7F-D7FDEE3AD5A5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3" name="refined-req-9-14">
            <a:extLst>
              <a:ext uri="{FF2B5EF4-FFF2-40B4-BE49-F238E27FC236}">
                <a16:creationId xmlns:a16="http://schemas.microsoft.com/office/drawing/2014/main" id="{66A3A265-D897-427F-8E15-C04463A4D1B5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refined-req-9-15">
            <a:extLst>
              <a:ext uri="{FF2B5EF4-FFF2-40B4-BE49-F238E27FC236}">
                <a16:creationId xmlns:a16="http://schemas.microsoft.com/office/drawing/2014/main" id="{79C253AB-AFDE-4CD3-BFBF-46DB29A18DD4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Подготовленный комплект и следующий шаг</a:t>
            </a:r>
          </a:p>
        </p:txBody>
      </p:sp>
      <p:sp>
        <p:nvSpPr>
          <p:cNvPr id="15" name="refined-req-9-16">
            <a:extLst>
              <a:ext uri="{FF2B5EF4-FFF2-40B4-BE49-F238E27FC236}">
                <a16:creationId xmlns:a16="http://schemas.microsoft.com/office/drawing/2014/main" id="{CC549578-F085-4481-A735-BD2CAB5B6D3F}"/>
              </a:ext>
            </a:extLst>
          </p:cNvPr>
          <p:cNvSpPr>
            <a:spLocks noGrp="1"/>
          </p:cNvSpPr>
          <p:nvPr/>
        </p:nvSpPr>
        <p:spPr>
          <a:xfrm>
            <a:off x="457200" y="2333625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Предприниматель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выгружает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тексты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документов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открывает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страницу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официального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fined-req-9-16">
            <a:extLst>
              <a:ext uri="{FF2B5EF4-FFF2-40B4-BE49-F238E27FC236}">
                <a16:creationId xmlns:a16="http://schemas.microsoft.com/office/drawing/2014/main" id="{FA7C9CC0-F2AD-4FED-9A23-48C91576CC73}"/>
              </a:ext>
            </a:extLst>
          </p:cNvPr>
          <p:cNvSpPr>
            <a:spLocks noGrp="1"/>
          </p:cNvSpPr>
          <p:nvPr/>
        </p:nvSpPr>
        <p:spPr>
          <a:xfrm>
            <a:off x="457200" y="2558355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оператора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Данные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проекта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сохранены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для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продолжения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работы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Реальная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отправка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</a:t>
            </a:r>
          </a:p>
        </p:txBody>
      </p:sp>
      <p:sp>
        <p:nvSpPr>
          <p:cNvPr id="17" name="refined-req-9-16">
            <a:extLst>
              <a:ext uri="{FF2B5EF4-FFF2-40B4-BE49-F238E27FC236}">
                <a16:creationId xmlns:a16="http://schemas.microsoft.com/office/drawing/2014/main" id="{B8471B11-CD7F-4B2B-A459-91E93DF86CBB}"/>
              </a:ext>
            </a:extLst>
          </p:cNvPr>
          <p:cNvSpPr>
            <a:spLocks noGrp="1"/>
          </p:cNvSpPr>
          <p:nvPr/>
        </p:nvSpPr>
        <p:spPr>
          <a:xfrm>
            <a:off x="457200" y="2783086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внешние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статусы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требуют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подключения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государственных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систем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;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квитанция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в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демо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не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fined-req-9-16">
            <a:extLst>
              <a:ext uri="{FF2B5EF4-FFF2-40B4-BE49-F238E27FC236}">
                <a16:creationId xmlns:a16="http://schemas.microsoft.com/office/drawing/2014/main" id="{D593934A-76B3-445C-A2DD-F38DB2611FB8}"/>
              </a:ext>
            </a:extLst>
          </p:cNvPr>
          <p:cNvSpPr>
            <a:spLocks noGrp="1"/>
          </p:cNvSpPr>
          <p:nvPr/>
        </p:nvSpPr>
        <p:spPr>
          <a:xfrm>
            <a:off x="457200" y="3007816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подтверждает подачу.</a:t>
            </a:r>
          </a:p>
        </p:txBody>
      </p:sp>
      <p:sp>
        <p:nvSpPr>
          <p:cNvPr id="19" name="refined-req-9-18">
            <a:extLst>
              <a:ext uri="{FF2B5EF4-FFF2-40B4-BE49-F238E27FC236}">
                <a16:creationId xmlns:a16="http://schemas.microsoft.com/office/drawing/2014/main" id="{99331B0E-7D59-49C7-9D6D-5DD932871BDA}"/>
              </a:ext>
            </a:extLst>
          </p:cNvPr>
          <p:cNvSpPr>
            <a:spLocks noGrp="1"/>
          </p:cNvSpPr>
          <p:nvPr/>
        </p:nvSpPr>
        <p:spPr>
          <a:xfrm>
            <a:off x="533400" y="351472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fined-req-9-19">
            <a:extLst>
              <a:ext uri="{FF2B5EF4-FFF2-40B4-BE49-F238E27FC236}">
                <a16:creationId xmlns:a16="http://schemas.microsoft.com/office/drawing/2014/main" id="{6F9910D4-8CBC-4CFA-AF21-6AB38A8E71C7}"/>
              </a:ext>
            </a:extLst>
          </p:cNvPr>
          <p:cNvSpPr>
            <a:spLocks noGrp="1"/>
          </p:cNvSpPr>
          <p:nvPr/>
        </p:nvSpPr>
        <p:spPr>
          <a:xfrm>
            <a:off x="971550" y="348615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Проактивный поиск новых возможностей</a:t>
            </a:r>
          </a:p>
        </p:txBody>
      </p:sp>
      <p:sp>
        <p:nvSpPr>
          <p:cNvPr id="21" name="refined-req-9-20">
            <a:extLst>
              <a:ext uri="{FF2B5EF4-FFF2-40B4-BE49-F238E27FC236}">
                <a16:creationId xmlns:a16="http://schemas.microsoft.com/office/drawing/2014/main" id="{0072D942-6EFA-41C7-A62B-0939B2806F09}"/>
              </a:ext>
            </a:extLst>
          </p:cNvPr>
          <p:cNvSpPr>
            <a:spLocks noGrp="1"/>
          </p:cNvSpPr>
          <p:nvPr/>
        </p:nvSpPr>
        <p:spPr>
          <a:xfrm>
            <a:off x="457200" y="3876675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Импорт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обновляет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каталог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мер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проверяет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источники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Сервис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повторно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сопоставляет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fined-req-9-20">
            <a:extLst>
              <a:ext uri="{FF2B5EF4-FFF2-40B4-BE49-F238E27FC236}">
                <a16:creationId xmlns:a16="http://schemas.microsoft.com/office/drawing/2014/main" id="{EFD97B17-0004-48BC-AFFF-ECEAEF1BD51F}"/>
              </a:ext>
            </a:extLst>
          </p:cNvPr>
          <p:cNvSpPr>
            <a:spLocks noGrp="1"/>
          </p:cNvSpPr>
          <p:nvPr/>
        </p:nvSpPr>
        <p:spPr>
          <a:xfrm>
            <a:off x="457200" y="4101405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новые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программы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профилем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бизнеса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ИИ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объясняет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их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применимость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пользу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" name="refined-req-9-20">
            <a:extLst>
              <a:ext uri="{FF2B5EF4-FFF2-40B4-BE49-F238E27FC236}">
                <a16:creationId xmlns:a16="http://schemas.microsoft.com/office/drawing/2014/main" id="{098BD518-2626-4874-B355-63CBC66847C3}"/>
              </a:ext>
            </a:extLst>
          </p:cNvPr>
          <p:cNvSpPr>
            <a:spLocks noGrp="1"/>
          </p:cNvSpPr>
          <p:nvPr/>
        </p:nvSpPr>
        <p:spPr>
          <a:xfrm>
            <a:off x="457200" y="4326136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Пользователь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видит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персональные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рекомендации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без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повторного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заполнения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компании</a:t>
            </a:r>
            <a:r>
              <a:rPr sz="150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4" name="refined-req-9-22">
            <a:extLst>
              <a:ext uri="{FF2B5EF4-FFF2-40B4-BE49-F238E27FC236}">
                <a16:creationId xmlns:a16="http://schemas.microsoft.com/office/drawing/2014/main" id="{10C9DB6D-25B6-446A-8E8E-E86D21A31B5C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fined-req-9-23">
            <a:extLst>
              <a:ext uri="{FF2B5EF4-FFF2-40B4-BE49-F238E27FC236}">
                <a16:creationId xmlns:a16="http://schemas.microsoft.com/office/drawing/2014/main" id="{2C98E52E-3350-4D10-AF88-DD014B7748F9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749617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1875" b="1" dirty="0">
                <a:solidFill>
                  <a:srgbClr val="202126"/>
                </a:solidFill>
                <a:latin typeface="Arial"/>
              </a:rPr>
              <a:t>Дальнейшее сопровождение клиента</a:t>
            </a:r>
            <a:endParaRPr sz="1875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fined-req-9-24">
            <a:extLst>
              <a:ext uri="{FF2B5EF4-FFF2-40B4-BE49-F238E27FC236}">
                <a16:creationId xmlns:a16="http://schemas.microsoft.com/office/drawing/2014/main" id="{EB6C55B0-F5B1-4ECB-A635-9126480BC149}"/>
              </a:ext>
            </a:extLst>
          </p:cNvPr>
          <p:cNvSpPr>
            <a:spLocks noGrp="1"/>
          </p:cNvSpPr>
          <p:nvPr/>
        </p:nvSpPr>
        <p:spPr>
          <a:xfrm>
            <a:off x="457200" y="5191125"/>
            <a:ext cx="8010525" cy="234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0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500" dirty="0">
                <a:solidFill>
                  <a:srgbClr val="41424B"/>
                </a:solidFill>
                <a:latin typeface="Arial"/>
              </a:rPr>
              <a:t>После завершения текущей заявки сервис сохраняет контекст компании и может</a:t>
            </a:r>
            <a:br>
              <a:rPr lang="ru-RU" sz="1500" dirty="0">
                <a:solidFill>
                  <a:srgbClr val="41424B"/>
                </a:solidFill>
                <a:latin typeface="Arial"/>
              </a:rPr>
            </a:br>
            <a:r>
              <a:rPr lang="ru-RU" sz="1500" dirty="0">
                <a:solidFill>
                  <a:srgbClr val="41424B"/>
                </a:solidFill>
                <a:latin typeface="Arial"/>
              </a:rPr>
              <a:t>продолжать сопровождение: уведомлять о новых релевантных мерах, изменениях </a:t>
            </a:r>
            <a:br>
              <a:rPr lang="ru-RU" sz="1500" dirty="0">
                <a:solidFill>
                  <a:srgbClr val="41424B"/>
                </a:solidFill>
                <a:latin typeface="Arial"/>
              </a:rPr>
            </a:br>
            <a:r>
              <a:rPr lang="ru-RU" sz="1500" dirty="0">
                <a:solidFill>
                  <a:srgbClr val="41424B"/>
                </a:solidFill>
                <a:latin typeface="Arial"/>
              </a:rPr>
              <a:t>условий и следующих доступных шагах.</a:t>
            </a:r>
            <a:endParaRPr sz="150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fined-req-9-25">
            <a:extLst>
              <a:ext uri="{FF2B5EF4-FFF2-40B4-BE49-F238E27FC236}">
                <a16:creationId xmlns:a16="http://schemas.microsoft.com/office/drawing/2014/main" id="{43C309BE-C4D8-4446-BD2E-DB279750767E}"/>
              </a:ext>
            </a:extLst>
          </p:cNvPr>
          <p:cNvSpPr>
            <a:spLocks noGrp="1"/>
          </p:cNvSpPr>
          <p:nvPr/>
        </p:nvSpPr>
        <p:spPr>
          <a:xfrm>
            <a:off x="4953000" y="6667500"/>
            <a:ext cx="644842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0" y="763661"/>
            <a:ext cx="2533650" cy="5483078"/>
          </a:xfrm>
          <a:prstGeom prst="roundRect">
            <a:avLst>
              <a:gd name="adj" fmla="val 8271"/>
            </a:avLst>
          </a:prstGeom>
        </p:spPr>
      </p:pic>
    </p:spTree>
    <p:extLst>
      <p:ext uri="{BB962C8B-B14F-4D97-AF65-F5344CB8AC3E}">
        <p14:creationId xmlns:p14="http://schemas.microsoft.com/office/powerpoint/2010/main" val="22985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10-7">
            <a:extLst>
              <a:ext uri="{FF2B5EF4-FFF2-40B4-BE49-F238E27FC236}">
                <a16:creationId xmlns:a16="http://schemas.microsoft.com/office/drawing/2014/main" id="{1FB537D8-9602-4949-AC7A-06638F9705CF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10-10">
            <a:extLst>
              <a:ext uri="{FF2B5EF4-FFF2-40B4-BE49-F238E27FC236}">
                <a16:creationId xmlns:a16="http://schemas.microsoft.com/office/drawing/2014/main" id="{D55F6B6A-14CF-4E8B-BD72-90191C70FB44}"/>
              </a:ext>
            </a:extLst>
          </p:cNvPr>
          <p:cNvSpPr>
            <a:spLocks noGrp="1"/>
          </p:cNvSpPr>
          <p:nvPr/>
        </p:nvSpPr>
        <p:spPr>
          <a:xfrm>
            <a:off x="457200" y="1819275"/>
            <a:ext cx="2905125" cy="981075"/>
          </a:xfrm>
          <a:prstGeom prst="roundRect">
            <a:avLst>
              <a:gd name="adj" fmla="val 17476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4" name="refined-req-10-13">
            <a:extLst>
              <a:ext uri="{FF2B5EF4-FFF2-40B4-BE49-F238E27FC236}">
                <a16:creationId xmlns:a16="http://schemas.microsoft.com/office/drawing/2014/main" id="{FE9BEB34-F604-4938-AA75-E3298F1F7575}"/>
              </a:ext>
            </a:extLst>
          </p:cNvPr>
          <p:cNvSpPr>
            <a:spLocks noGrp="1"/>
          </p:cNvSpPr>
          <p:nvPr/>
        </p:nvSpPr>
        <p:spPr>
          <a:xfrm>
            <a:off x="3552825" y="1819275"/>
            <a:ext cx="2905125" cy="981075"/>
          </a:xfrm>
          <a:prstGeom prst="roundRect">
            <a:avLst>
              <a:gd name="adj" fmla="val 17476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5" name="refined-req-10-18">
            <a:extLst>
              <a:ext uri="{FF2B5EF4-FFF2-40B4-BE49-F238E27FC236}">
                <a16:creationId xmlns:a16="http://schemas.microsoft.com/office/drawing/2014/main" id="{4F1977E3-6817-4F16-9E33-1E68362BB648}"/>
              </a:ext>
            </a:extLst>
          </p:cNvPr>
          <p:cNvSpPr>
            <a:spLocks noGrp="1"/>
          </p:cNvSpPr>
          <p:nvPr/>
        </p:nvSpPr>
        <p:spPr>
          <a:xfrm>
            <a:off x="457200" y="3209925"/>
            <a:ext cx="6000750" cy="1038225"/>
          </a:xfrm>
          <a:prstGeom prst="roundRect">
            <a:avLst>
              <a:gd name="adj" fmla="val 16514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6" name="refined-req-10-24">
            <a:extLst>
              <a:ext uri="{FF2B5EF4-FFF2-40B4-BE49-F238E27FC236}">
                <a16:creationId xmlns:a16="http://schemas.microsoft.com/office/drawing/2014/main" id="{57E0F182-3853-46C8-A806-7CB41BE4637D}"/>
              </a:ext>
            </a:extLst>
          </p:cNvPr>
          <p:cNvSpPr>
            <a:spLocks noGrp="1"/>
          </p:cNvSpPr>
          <p:nvPr/>
        </p:nvSpPr>
        <p:spPr>
          <a:xfrm>
            <a:off x="457200" y="4657725"/>
            <a:ext cx="1905000" cy="1085850"/>
          </a:xfrm>
          <a:prstGeom prst="roundRect">
            <a:avLst>
              <a:gd name="adj" fmla="val 15789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7" name="refined-req-10-27">
            <a:extLst>
              <a:ext uri="{FF2B5EF4-FFF2-40B4-BE49-F238E27FC236}">
                <a16:creationId xmlns:a16="http://schemas.microsoft.com/office/drawing/2014/main" id="{6C0F6C06-5CE2-427B-9BA7-3CEDB57CD386}"/>
              </a:ext>
            </a:extLst>
          </p:cNvPr>
          <p:cNvSpPr>
            <a:spLocks noGrp="1"/>
          </p:cNvSpPr>
          <p:nvPr/>
        </p:nvSpPr>
        <p:spPr>
          <a:xfrm>
            <a:off x="2495550" y="4657725"/>
            <a:ext cx="1924050" cy="1085850"/>
          </a:xfrm>
          <a:prstGeom prst="roundRect">
            <a:avLst>
              <a:gd name="adj" fmla="val 15789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8" name="refined-req-10-30">
            <a:extLst>
              <a:ext uri="{FF2B5EF4-FFF2-40B4-BE49-F238E27FC236}">
                <a16:creationId xmlns:a16="http://schemas.microsoft.com/office/drawing/2014/main" id="{87A8F06C-B7DE-40C1-BEBC-192AEE2D0BDF}"/>
              </a:ext>
            </a:extLst>
          </p:cNvPr>
          <p:cNvSpPr>
            <a:spLocks noGrp="1"/>
          </p:cNvSpPr>
          <p:nvPr/>
        </p:nvSpPr>
        <p:spPr>
          <a:xfrm>
            <a:off x="4552950" y="4657725"/>
            <a:ext cx="1905000" cy="1085850"/>
          </a:xfrm>
          <a:prstGeom prst="roundRect">
            <a:avLst>
              <a:gd name="adj" fmla="val 15789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9" name="refined-req-10-33">
            <a:extLst>
              <a:ext uri="{FF2B5EF4-FFF2-40B4-BE49-F238E27FC236}">
                <a16:creationId xmlns:a16="http://schemas.microsoft.com/office/drawing/2014/main" id="{7FAD8DF0-C69B-4BEA-BFE7-78E7D99F5BA1}"/>
              </a:ext>
            </a:extLst>
          </p:cNvPr>
          <p:cNvSpPr>
            <a:spLocks noGrp="1"/>
          </p:cNvSpPr>
          <p:nvPr/>
        </p:nvSpPr>
        <p:spPr>
          <a:xfrm>
            <a:off x="457200" y="5924550"/>
            <a:ext cx="6000750" cy="504825"/>
          </a:xfrm>
          <a:prstGeom prst="roundRect">
            <a:avLst>
              <a:gd name="adj" fmla="val 28302"/>
            </a:avLst>
          </a:prstGeom>
          <a:solidFill>
            <a:srgbClr val="F3F4F6"/>
          </a:solidFill>
          <a:ln w="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11" name="refined-req-10-5">
            <a:extLst>
              <a:ext uri="{FF2B5EF4-FFF2-40B4-BE49-F238E27FC236}">
                <a16:creationId xmlns:a16="http://schemas.microsoft.com/office/drawing/2014/main" id="{2515D205-61B8-4F09-9994-04E75B0C723E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306175" cy="4451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2850" b="1" dirty="0">
                <a:solidFill>
                  <a:srgbClr val="202126"/>
                </a:solidFill>
                <a:latin typeface="Arial"/>
              </a:rPr>
              <a:t>Архитектура решения</a:t>
            </a:r>
            <a:endParaRPr sz="285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fined-req-10-8">
            <a:extLst>
              <a:ext uri="{FF2B5EF4-FFF2-40B4-BE49-F238E27FC236}">
                <a16:creationId xmlns:a16="http://schemas.microsoft.com/office/drawing/2014/main" id="{5B20D481-7196-4401-B86A-9D3E459F3F1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38385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fined-req-10-9">
            <a:extLst>
              <a:ext uri="{FF2B5EF4-FFF2-40B4-BE49-F238E27FC236}">
                <a16:creationId xmlns:a16="http://schemas.microsoft.com/office/drawing/2014/main" id="{3CA69479-EF04-4EDA-BB69-CF02FE72F7F2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refined-req-10-11">
            <a:extLst>
              <a:ext uri="{FF2B5EF4-FFF2-40B4-BE49-F238E27FC236}">
                <a16:creationId xmlns:a16="http://schemas.microsoft.com/office/drawing/2014/main" id="{D08712D2-BAF7-4E5C-B60C-65D44385967E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260985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Web</a:t>
            </a:r>
            <a:r>
              <a:rPr sz="1725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App</a:t>
            </a:r>
          </a:p>
        </p:txBody>
      </p:sp>
      <p:sp>
        <p:nvSpPr>
          <p:cNvPr id="16" name="refined-req-10-12">
            <a:extLst>
              <a:ext uri="{FF2B5EF4-FFF2-40B4-BE49-F238E27FC236}">
                <a16:creationId xmlns:a16="http://schemas.microsoft.com/office/drawing/2014/main" id="{AAB2B8BB-DEAE-4BBF-9ED6-E03BD6370DBF}"/>
              </a:ext>
            </a:extLst>
          </p:cNvPr>
          <p:cNvSpPr>
            <a:spLocks noGrp="1"/>
          </p:cNvSpPr>
          <p:nvPr/>
        </p:nvSpPr>
        <p:spPr>
          <a:xfrm>
            <a:off x="619125" y="2247900"/>
            <a:ext cx="2609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React / TypeScript / Vite</a:t>
            </a:r>
          </a:p>
        </p:txBody>
      </p:sp>
      <p:sp>
        <p:nvSpPr>
          <p:cNvPr id="17" name="refined-req-10-14">
            <a:extLst>
              <a:ext uri="{FF2B5EF4-FFF2-40B4-BE49-F238E27FC236}">
                <a16:creationId xmlns:a16="http://schemas.microsoft.com/office/drawing/2014/main" id="{C988C89E-356F-45F8-B14F-DA6A73B176A3}"/>
              </a:ext>
            </a:extLst>
          </p:cNvPr>
          <p:cNvSpPr>
            <a:spLocks noGrp="1"/>
          </p:cNvSpPr>
          <p:nvPr/>
        </p:nvSpPr>
        <p:spPr>
          <a:xfrm>
            <a:off x="3714750" y="1933575"/>
            <a:ext cx="2609850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1725" b="1" dirty="0">
                <a:solidFill>
                  <a:srgbClr val="202126"/>
                </a:solidFill>
                <a:latin typeface="Arial"/>
              </a:rPr>
              <a:t>REST API</a:t>
            </a:r>
            <a:endParaRPr sz="1725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fined-req-10-15">
            <a:extLst>
              <a:ext uri="{FF2B5EF4-FFF2-40B4-BE49-F238E27FC236}">
                <a16:creationId xmlns:a16="http://schemas.microsoft.com/office/drawing/2014/main" id="{A523058C-B598-418B-95CF-D9786A0E09F0}"/>
              </a:ext>
            </a:extLst>
          </p:cNvPr>
          <p:cNvSpPr>
            <a:spLocks noGrp="1"/>
          </p:cNvSpPr>
          <p:nvPr/>
        </p:nvSpPr>
        <p:spPr>
          <a:xfrm>
            <a:off x="3714750" y="2247900"/>
            <a:ext cx="2609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35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Интеграция с внешними </a:t>
            </a:r>
            <a:br>
              <a:rPr lang="ru-RU" sz="135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</a:br>
            <a:r>
              <a:rPr lang="ru-RU" sz="1350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каналами</a:t>
            </a: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fined-req-10-16">
            <a:extLst>
              <a:ext uri="{FF2B5EF4-FFF2-40B4-BE49-F238E27FC236}">
                <a16:creationId xmlns:a16="http://schemas.microsoft.com/office/drawing/2014/main" id="{F5BE3AB7-3BAB-4ED5-B820-0316698073BD}"/>
              </a:ext>
            </a:extLst>
          </p:cNvPr>
          <p:cNvSpPr>
            <a:spLocks noGrp="1"/>
          </p:cNvSpPr>
          <p:nvPr/>
        </p:nvSpPr>
        <p:spPr>
          <a:xfrm>
            <a:off x="1809750" y="2847975"/>
            <a:ext cx="361950" cy="316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02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refined-req-10-17">
            <a:extLst>
              <a:ext uri="{FF2B5EF4-FFF2-40B4-BE49-F238E27FC236}">
                <a16:creationId xmlns:a16="http://schemas.microsoft.com/office/drawing/2014/main" id="{707696DF-89FA-4468-AC43-89136D63023D}"/>
              </a:ext>
            </a:extLst>
          </p:cNvPr>
          <p:cNvSpPr>
            <a:spLocks noGrp="1"/>
          </p:cNvSpPr>
          <p:nvPr/>
        </p:nvSpPr>
        <p:spPr>
          <a:xfrm>
            <a:off x="4953000" y="2847975"/>
            <a:ext cx="361950" cy="316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025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refined-req-10-19">
            <a:extLst>
              <a:ext uri="{FF2B5EF4-FFF2-40B4-BE49-F238E27FC236}">
                <a16:creationId xmlns:a16="http://schemas.microsoft.com/office/drawing/2014/main" id="{F5B1A2F4-CECE-4848-8342-28DE3E48BB1D}"/>
              </a:ext>
            </a:extLst>
          </p:cNvPr>
          <p:cNvSpPr>
            <a:spLocks noGrp="1"/>
          </p:cNvSpPr>
          <p:nvPr/>
        </p:nvSpPr>
        <p:spPr>
          <a:xfrm>
            <a:off x="619125" y="3324225"/>
            <a:ext cx="570547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Node.js / Express</a:t>
            </a:r>
          </a:p>
        </p:txBody>
      </p:sp>
      <p:sp>
        <p:nvSpPr>
          <p:cNvPr id="22" name="refined-req-10-20">
            <a:extLst>
              <a:ext uri="{FF2B5EF4-FFF2-40B4-BE49-F238E27FC236}">
                <a16:creationId xmlns:a16="http://schemas.microsoft.com/office/drawing/2014/main" id="{AD974D3C-8698-444D-9D6B-5B6CC92BB38E}"/>
              </a:ext>
            </a:extLst>
          </p:cNvPr>
          <p:cNvSpPr>
            <a:spLocks noGrp="1"/>
          </p:cNvSpPr>
          <p:nvPr/>
        </p:nvSpPr>
        <p:spPr>
          <a:xfrm>
            <a:off x="619125" y="3638550"/>
            <a:ext cx="57054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E4ED"/>
                </a:solidFill>
                <a:latin typeface="Arial"/>
                <a:ea typeface="Arial"/>
                <a:cs typeface="Arial"/>
              </a:rPr>
              <a:t>Профиль, правила подбора, AI, импорт и уведомления</a:t>
            </a:r>
          </a:p>
        </p:txBody>
      </p:sp>
      <p:sp>
        <p:nvSpPr>
          <p:cNvPr id="23" name="refined-req-10-21">
            <a:extLst>
              <a:ext uri="{FF2B5EF4-FFF2-40B4-BE49-F238E27FC236}">
                <a16:creationId xmlns:a16="http://schemas.microsoft.com/office/drawing/2014/main" id="{AB404ED8-4656-4D80-914B-A22D249AAA56}"/>
              </a:ext>
            </a:extLst>
          </p:cNvPr>
          <p:cNvSpPr>
            <a:spLocks noGrp="1"/>
          </p:cNvSpPr>
          <p:nvPr/>
        </p:nvSpPr>
        <p:spPr>
          <a:xfrm>
            <a:off x="1390650" y="4286250"/>
            <a:ext cx="352425" cy="304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95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4" name="refined-req-10-22">
            <a:extLst>
              <a:ext uri="{FF2B5EF4-FFF2-40B4-BE49-F238E27FC236}">
                <a16:creationId xmlns:a16="http://schemas.microsoft.com/office/drawing/2014/main" id="{FFB3397F-8A67-4378-BC52-5DC3AF3A4EBD}"/>
              </a:ext>
            </a:extLst>
          </p:cNvPr>
          <p:cNvSpPr>
            <a:spLocks noGrp="1"/>
          </p:cNvSpPr>
          <p:nvPr/>
        </p:nvSpPr>
        <p:spPr>
          <a:xfrm>
            <a:off x="3362325" y="4286250"/>
            <a:ext cx="352425" cy="304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95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5" name="refined-req-10-23">
            <a:extLst>
              <a:ext uri="{FF2B5EF4-FFF2-40B4-BE49-F238E27FC236}">
                <a16:creationId xmlns:a16="http://schemas.microsoft.com/office/drawing/2014/main" id="{0A1FDA64-DB67-4E37-9D59-4908A99F79F3}"/>
              </a:ext>
            </a:extLst>
          </p:cNvPr>
          <p:cNvSpPr>
            <a:spLocks noGrp="1"/>
          </p:cNvSpPr>
          <p:nvPr/>
        </p:nvSpPr>
        <p:spPr>
          <a:xfrm>
            <a:off x="5381625" y="4286250"/>
            <a:ext cx="352425" cy="304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95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54B8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6" name="refined-req-10-25">
            <a:extLst>
              <a:ext uri="{FF2B5EF4-FFF2-40B4-BE49-F238E27FC236}">
                <a16:creationId xmlns:a16="http://schemas.microsoft.com/office/drawing/2014/main" id="{26CD4CFF-02F8-4790-927F-D0DE34251C7C}"/>
              </a:ext>
            </a:extLst>
          </p:cNvPr>
          <p:cNvSpPr>
            <a:spLocks noGrp="1"/>
          </p:cNvSpPr>
          <p:nvPr/>
        </p:nvSpPr>
        <p:spPr>
          <a:xfrm>
            <a:off x="619125" y="4772025"/>
            <a:ext cx="160972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7" name="refined-req-10-26">
            <a:extLst>
              <a:ext uri="{FF2B5EF4-FFF2-40B4-BE49-F238E27FC236}">
                <a16:creationId xmlns:a16="http://schemas.microsoft.com/office/drawing/2014/main" id="{754A5F31-3702-46C5-A83B-953C310A58C4}"/>
              </a:ext>
            </a:extLst>
          </p:cNvPr>
          <p:cNvSpPr>
            <a:spLocks noGrp="1"/>
          </p:cNvSpPr>
          <p:nvPr/>
        </p:nvSpPr>
        <p:spPr>
          <a:xfrm>
            <a:off x="619125" y="5086350"/>
            <a:ext cx="16097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41424B"/>
                </a:solidFill>
                <a:latin typeface="Arial"/>
              </a:rPr>
              <a:t>ФНС / официальные </a:t>
            </a:r>
            <a:br>
              <a:rPr lang="ru-RU" sz="1350" dirty="0">
                <a:solidFill>
                  <a:srgbClr val="41424B"/>
                </a:solidFill>
                <a:latin typeface="Arial"/>
              </a:rPr>
            </a:br>
            <a:r>
              <a:rPr lang="ru-RU" sz="1350" dirty="0">
                <a:solidFill>
                  <a:srgbClr val="41424B"/>
                </a:solidFill>
                <a:latin typeface="Arial"/>
              </a:rPr>
              <a:t>источники</a:t>
            </a: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fined-req-10-26">
            <a:extLst>
              <a:ext uri="{FF2B5EF4-FFF2-40B4-BE49-F238E27FC236}">
                <a16:creationId xmlns:a16="http://schemas.microsoft.com/office/drawing/2014/main" id="{FB9B8CED-88B1-4157-9447-8EF93B970545}"/>
              </a:ext>
            </a:extLst>
          </p:cNvPr>
          <p:cNvSpPr>
            <a:spLocks noGrp="1"/>
          </p:cNvSpPr>
          <p:nvPr/>
        </p:nvSpPr>
        <p:spPr>
          <a:xfrm>
            <a:off x="619125" y="5288607"/>
            <a:ext cx="16097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fined-req-10-28">
            <a:extLst>
              <a:ext uri="{FF2B5EF4-FFF2-40B4-BE49-F238E27FC236}">
                <a16:creationId xmlns:a16="http://schemas.microsoft.com/office/drawing/2014/main" id="{116D16CC-CC07-4237-A1C2-643F87DF0833}"/>
              </a:ext>
            </a:extLst>
          </p:cNvPr>
          <p:cNvSpPr>
            <a:spLocks noGrp="1"/>
          </p:cNvSpPr>
          <p:nvPr/>
        </p:nvSpPr>
        <p:spPr>
          <a:xfrm>
            <a:off x="2657475" y="4772025"/>
            <a:ext cx="162877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0" name="refined-req-10-29">
            <a:extLst>
              <a:ext uri="{FF2B5EF4-FFF2-40B4-BE49-F238E27FC236}">
                <a16:creationId xmlns:a16="http://schemas.microsoft.com/office/drawing/2014/main" id="{D09D8FF3-E86F-4229-AB04-4CE7AC88964D}"/>
              </a:ext>
            </a:extLst>
          </p:cNvPr>
          <p:cNvSpPr>
            <a:spLocks noGrp="1"/>
          </p:cNvSpPr>
          <p:nvPr/>
        </p:nvSpPr>
        <p:spPr>
          <a:xfrm>
            <a:off x="2657475" y="5086350"/>
            <a:ext cx="16287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GigaChat</a:t>
            </a:r>
          </a:p>
        </p:txBody>
      </p:sp>
      <p:sp>
        <p:nvSpPr>
          <p:cNvPr id="31" name="refined-req-10-29">
            <a:extLst>
              <a:ext uri="{FF2B5EF4-FFF2-40B4-BE49-F238E27FC236}">
                <a16:creationId xmlns:a16="http://schemas.microsoft.com/office/drawing/2014/main" id="{F9C136CF-D208-4300-B69C-C64C4097E98F}"/>
              </a:ext>
            </a:extLst>
          </p:cNvPr>
          <p:cNvSpPr>
            <a:spLocks noGrp="1"/>
          </p:cNvSpPr>
          <p:nvPr/>
        </p:nvSpPr>
        <p:spPr>
          <a:xfrm>
            <a:off x="2657475" y="5288607"/>
            <a:ext cx="16287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fined-req-10-31">
            <a:extLst>
              <a:ext uri="{FF2B5EF4-FFF2-40B4-BE49-F238E27FC236}">
                <a16:creationId xmlns:a16="http://schemas.microsoft.com/office/drawing/2014/main" id="{E78E6028-4636-4DC2-9100-8AB128B37CF0}"/>
              </a:ext>
            </a:extLst>
          </p:cNvPr>
          <p:cNvSpPr>
            <a:spLocks noGrp="1"/>
          </p:cNvSpPr>
          <p:nvPr/>
        </p:nvSpPr>
        <p:spPr>
          <a:xfrm>
            <a:off x="4714875" y="4772025"/>
            <a:ext cx="160972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33" name="refined-req-10-32">
            <a:extLst>
              <a:ext uri="{FF2B5EF4-FFF2-40B4-BE49-F238E27FC236}">
                <a16:creationId xmlns:a16="http://schemas.microsoft.com/office/drawing/2014/main" id="{F8523356-3791-455E-A745-9E4EFA2A386B}"/>
              </a:ext>
            </a:extLst>
          </p:cNvPr>
          <p:cNvSpPr>
            <a:spLocks noGrp="1"/>
          </p:cNvSpPr>
          <p:nvPr/>
        </p:nvSpPr>
        <p:spPr>
          <a:xfrm>
            <a:off x="4714875" y="5086350"/>
            <a:ext cx="16097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SQLite / JSON</a:t>
            </a:r>
          </a:p>
        </p:txBody>
      </p:sp>
      <p:sp>
        <p:nvSpPr>
          <p:cNvPr id="34" name="refined-req-10-32">
            <a:extLst>
              <a:ext uri="{FF2B5EF4-FFF2-40B4-BE49-F238E27FC236}">
                <a16:creationId xmlns:a16="http://schemas.microsoft.com/office/drawing/2014/main" id="{A57C0583-EBA8-43A7-96E0-8EC31E151C51}"/>
              </a:ext>
            </a:extLst>
          </p:cNvPr>
          <p:cNvSpPr>
            <a:spLocks noGrp="1"/>
          </p:cNvSpPr>
          <p:nvPr/>
        </p:nvSpPr>
        <p:spPr>
          <a:xfrm>
            <a:off x="4714875" y="5288607"/>
            <a:ext cx="160972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efined-req-10-34">
            <a:extLst>
              <a:ext uri="{FF2B5EF4-FFF2-40B4-BE49-F238E27FC236}">
                <a16:creationId xmlns:a16="http://schemas.microsoft.com/office/drawing/2014/main" id="{E749B27A-AE2E-48A2-92EF-F6D92088DA6A}"/>
              </a:ext>
            </a:extLst>
          </p:cNvPr>
          <p:cNvSpPr>
            <a:spLocks noGrp="1"/>
          </p:cNvSpPr>
          <p:nvPr/>
        </p:nvSpPr>
        <p:spPr>
          <a:xfrm>
            <a:off x="628650" y="6048375"/>
            <a:ext cx="56959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6554B8"/>
                </a:solidFill>
                <a:latin typeface="Arial"/>
                <a:ea typeface="Arial"/>
                <a:cs typeface="Arial"/>
              </a:rPr>
              <a:t>Будущие</a:t>
            </a:r>
            <a:r>
              <a:rPr sz="1350" b="1" dirty="0">
                <a:solidFill>
                  <a:srgbClr val="6554B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6554B8"/>
                </a:solidFill>
                <a:latin typeface="Arial"/>
                <a:ea typeface="Arial"/>
                <a:cs typeface="Arial"/>
              </a:rPr>
              <a:t>адаптеры</a:t>
            </a:r>
            <a:r>
              <a:rPr sz="1350" b="1" dirty="0">
                <a:solidFill>
                  <a:srgbClr val="6554B8"/>
                </a:solidFill>
                <a:latin typeface="Arial"/>
                <a:ea typeface="Arial"/>
                <a:cs typeface="Arial"/>
              </a:rPr>
              <a:t>: ЕСИА, </a:t>
            </a:r>
            <a:r>
              <a:rPr lang="ru-RU" sz="1350" b="1" dirty="0">
                <a:solidFill>
                  <a:srgbClr val="6554B8"/>
                </a:solidFill>
                <a:latin typeface="Arial"/>
              </a:rPr>
              <a:t>банковские API</a:t>
            </a:r>
            <a:r>
              <a:rPr lang="ru-RU" sz="1350" b="1" dirty="0">
                <a:solidFill>
                  <a:srgbClr val="6554B8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1" dirty="0" err="1">
                <a:solidFill>
                  <a:srgbClr val="6554B8"/>
                </a:solidFill>
                <a:latin typeface="Arial"/>
                <a:ea typeface="Arial"/>
                <a:cs typeface="Arial"/>
              </a:rPr>
              <a:t>приём</a:t>
            </a:r>
            <a:r>
              <a:rPr sz="1350" b="1" dirty="0">
                <a:solidFill>
                  <a:srgbClr val="6554B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6554B8"/>
                </a:solidFill>
                <a:latin typeface="Arial"/>
                <a:ea typeface="Arial"/>
                <a:cs typeface="Arial"/>
              </a:rPr>
              <a:t>заявок</a:t>
            </a:r>
            <a:r>
              <a:rPr sz="1350" b="1" dirty="0">
                <a:solidFill>
                  <a:srgbClr val="6554B8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1" dirty="0" err="1">
                <a:solidFill>
                  <a:srgbClr val="6554B8"/>
                </a:solidFill>
                <a:latin typeface="Arial"/>
                <a:ea typeface="Arial"/>
                <a:cs typeface="Arial"/>
              </a:rPr>
              <a:t>статусы</a:t>
            </a:r>
            <a:endParaRPr sz="135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fined-req-10-35">
            <a:extLst>
              <a:ext uri="{FF2B5EF4-FFF2-40B4-BE49-F238E27FC236}">
                <a16:creationId xmlns:a16="http://schemas.microsoft.com/office/drawing/2014/main" id="{C26FCCA5-80A5-4BE9-BA31-81D88E10A333}"/>
              </a:ext>
            </a:extLst>
          </p:cNvPr>
          <p:cNvSpPr>
            <a:spLocks noGrp="1"/>
          </p:cNvSpPr>
          <p:nvPr/>
        </p:nvSpPr>
        <p:spPr>
          <a:xfrm>
            <a:off x="6819900" y="1809750"/>
            <a:ext cx="4943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ИНН и официальный каталог</a:t>
            </a:r>
          </a:p>
        </p:txBody>
      </p:sp>
      <p:sp>
        <p:nvSpPr>
          <p:cNvPr id="37" name="refined-req-10-36">
            <a:extLst>
              <a:ext uri="{FF2B5EF4-FFF2-40B4-BE49-F238E27FC236}">
                <a16:creationId xmlns:a16="http://schemas.microsoft.com/office/drawing/2014/main" id="{46737C57-7478-4E36-9FA5-09BB4EEA33D6}"/>
              </a:ext>
            </a:extLst>
          </p:cNvPr>
          <p:cNvSpPr>
            <a:spLocks noGrp="1"/>
          </p:cNvSpPr>
          <p:nvPr/>
        </p:nvSpPr>
        <p:spPr>
          <a:xfrm>
            <a:off x="6819900" y="219075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ИНН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загружаются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сведения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из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индекса</a:t>
            </a:r>
            <a:r>
              <a:rPr lang="ru-RU" sz="1463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ФНС.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efined-req-10-36">
            <a:extLst>
              <a:ext uri="{FF2B5EF4-FFF2-40B4-BE49-F238E27FC236}">
                <a16:creationId xmlns:a16="http://schemas.microsoft.com/office/drawing/2014/main" id="{405C5EDF-A1D3-4C62-BC74-977BAF529D60}"/>
              </a:ext>
            </a:extLst>
          </p:cNvPr>
          <p:cNvSpPr>
            <a:spLocks noGrp="1"/>
          </p:cNvSpPr>
          <p:nvPr/>
        </p:nvSpPr>
        <p:spPr>
          <a:xfrm>
            <a:off x="6819900" y="2409825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Каталог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объединяет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меры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из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официальных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fined-req-10-36">
            <a:extLst>
              <a:ext uri="{FF2B5EF4-FFF2-40B4-BE49-F238E27FC236}">
                <a16:creationId xmlns:a16="http://schemas.microsoft.com/office/drawing/2014/main" id="{33018E19-A7AF-4693-802F-27C82F7052F0}"/>
              </a:ext>
            </a:extLst>
          </p:cNvPr>
          <p:cNvSpPr>
            <a:spLocks noGrp="1"/>
          </p:cNvSpPr>
          <p:nvPr/>
        </p:nvSpPr>
        <p:spPr>
          <a:xfrm>
            <a:off x="6819900" y="262890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федеральных и региональных источников. Источник и</a:t>
            </a:r>
          </a:p>
        </p:txBody>
      </p:sp>
      <p:sp>
        <p:nvSpPr>
          <p:cNvPr id="40" name="refined-req-10-36">
            <a:extLst>
              <a:ext uri="{FF2B5EF4-FFF2-40B4-BE49-F238E27FC236}">
                <a16:creationId xmlns:a16="http://schemas.microsoft.com/office/drawing/2014/main" id="{CD358BE0-5B4A-4CC1-9598-12DEE13A737E}"/>
              </a:ext>
            </a:extLst>
          </p:cNvPr>
          <p:cNvSpPr>
            <a:spLocks noGrp="1"/>
          </p:cNvSpPr>
          <p:nvPr/>
        </p:nvSpPr>
        <p:spPr>
          <a:xfrm>
            <a:off x="6819900" y="2847975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дата проверки сохраняются.</a:t>
            </a:r>
          </a:p>
        </p:txBody>
      </p:sp>
      <p:sp>
        <p:nvSpPr>
          <p:cNvPr id="41" name="refined-req-10-37">
            <a:extLst>
              <a:ext uri="{FF2B5EF4-FFF2-40B4-BE49-F238E27FC236}">
                <a16:creationId xmlns:a16="http://schemas.microsoft.com/office/drawing/2014/main" id="{880474AC-1B1A-46E7-8383-E601C71B18A4}"/>
              </a:ext>
            </a:extLst>
          </p:cNvPr>
          <p:cNvSpPr>
            <a:spLocks noGrp="1"/>
          </p:cNvSpPr>
          <p:nvPr/>
        </p:nvSpPr>
        <p:spPr>
          <a:xfrm>
            <a:off x="6819900" y="3314700"/>
            <a:ext cx="4943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Правила и ИИ выполняют разные задачи</a:t>
            </a:r>
          </a:p>
        </p:txBody>
      </p:sp>
      <p:sp>
        <p:nvSpPr>
          <p:cNvPr id="42" name="refined-req-10-38">
            <a:extLst>
              <a:ext uri="{FF2B5EF4-FFF2-40B4-BE49-F238E27FC236}">
                <a16:creationId xmlns:a16="http://schemas.microsoft.com/office/drawing/2014/main" id="{B37487BE-841A-4AB1-8001-A707D02A0C48}"/>
              </a:ext>
            </a:extLst>
          </p:cNvPr>
          <p:cNvSpPr>
            <a:spLocks noGrp="1"/>
          </p:cNvSpPr>
          <p:nvPr/>
        </p:nvSpPr>
        <p:spPr>
          <a:xfrm>
            <a:off x="6819900" y="369570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Код проверяет формальные условия участия. GigaChat</a:t>
            </a:r>
          </a:p>
        </p:txBody>
      </p:sp>
      <p:sp>
        <p:nvSpPr>
          <p:cNvPr id="43" name="refined-req-10-38">
            <a:extLst>
              <a:ext uri="{FF2B5EF4-FFF2-40B4-BE49-F238E27FC236}">
                <a16:creationId xmlns:a16="http://schemas.microsoft.com/office/drawing/2014/main" id="{1AE2CE3F-16A1-48F2-A10C-1F46F7D56CD8}"/>
              </a:ext>
            </a:extLst>
          </p:cNvPr>
          <p:cNvSpPr>
            <a:spLocks noGrp="1"/>
          </p:cNvSpPr>
          <p:nvPr/>
        </p:nvSpPr>
        <p:spPr>
          <a:xfrm>
            <a:off x="6819900" y="3914775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получает профиль, задачу и выбранную меру, помогает</a:t>
            </a:r>
          </a:p>
        </p:txBody>
      </p:sp>
      <p:sp>
        <p:nvSpPr>
          <p:cNvPr id="44" name="refined-req-10-38">
            <a:extLst>
              <a:ext uri="{FF2B5EF4-FFF2-40B4-BE49-F238E27FC236}">
                <a16:creationId xmlns:a16="http://schemas.microsoft.com/office/drawing/2014/main" id="{414E48D8-AF69-4828-A14B-2D2107E6B3A4}"/>
              </a:ext>
            </a:extLst>
          </p:cNvPr>
          <p:cNvSpPr>
            <a:spLocks noGrp="1"/>
          </p:cNvSpPr>
          <p:nvPr/>
        </p:nvSpPr>
        <p:spPr>
          <a:xfrm>
            <a:off x="6819900" y="413385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искать и объяснять поддержку, готовить и проверять</a:t>
            </a:r>
          </a:p>
        </p:txBody>
      </p:sp>
      <p:sp>
        <p:nvSpPr>
          <p:cNvPr id="45" name="refined-req-10-38">
            <a:extLst>
              <a:ext uri="{FF2B5EF4-FFF2-40B4-BE49-F238E27FC236}">
                <a16:creationId xmlns:a16="http://schemas.microsoft.com/office/drawing/2014/main" id="{058E2BBC-CB51-4B28-A309-8D56D4F720AA}"/>
              </a:ext>
            </a:extLst>
          </p:cNvPr>
          <p:cNvSpPr>
            <a:spLocks noGrp="1"/>
          </p:cNvSpPr>
          <p:nvPr/>
        </p:nvSpPr>
        <p:spPr>
          <a:xfrm>
            <a:off x="6819900" y="4352925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тексты. Для рекомендаций важны источник, дата</a:t>
            </a:r>
          </a:p>
        </p:txBody>
      </p:sp>
      <p:sp>
        <p:nvSpPr>
          <p:cNvPr id="46" name="refined-req-10-38">
            <a:extLst>
              <a:ext uri="{FF2B5EF4-FFF2-40B4-BE49-F238E27FC236}">
                <a16:creationId xmlns:a16="http://schemas.microsoft.com/office/drawing/2014/main" id="{45879D9B-37F9-49AF-9BE2-0CFF1F813125}"/>
              </a:ext>
            </a:extLst>
          </p:cNvPr>
          <p:cNvSpPr>
            <a:spLocks noGrp="1"/>
          </p:cNvSpPr>
          <p:nvPr/>
        </p:nvSpPr>
        <p:spPr>
          <a:xfrm>
            <a:off x="6819900" y="457200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проверки и неизвестные критерии.</a:t>
            </a:r>
          </a:p>
        </p:txBody>
      </p:sp>
      <p:sp>
        <p:nvSpPr>
          <p:cNvPr id="47" name="refined-req-10-39">
            <a:extLst>
              <a:ext uri="{FF2B5EF4-FFF2-40B4-BE49-F238E27FC236}">
                <a16:creationId xmlns:a16="http://schemas.microsoft.com/office/drawing/2014/main" id="{4A715290-DA57-4E0A-9F12-8A6F9F3AFA83}"/>
              </a:ext>
            </a:extLst>
          </p:cNvPr>
          <p:cNvSpPr>
            <a:spLocks noGrp="1"/>
          </p:cNvSpPr>
          <p:nvPr/>
        </p:nvSpPr>
        <p:spPr>
          <a:xfrm>
            <a:off x="6819900" y="5038725"/>
            <a:ext cx="4943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Сохранение и дальнейшая интеграция</a:t>
            </a:r>
          </a:p>
        </p:txBody>
      </p:sp>
      <p:sp>
        <p:nvSpPr>
          <p:cNvPr id="48" name="refined-req-10-40">
            <a:extLst>
              <a:ext uri="{FF2B5EF4-FFF2-40B4-BE49-F238E27FC236}">
                <a16:creationId xmlns:a16="http://schemas.microsoft.com/office/drawing/2014/main" id="{96AEE5DB-AACC-4A23-A32F-0D5ED8517C3F}"/>
              </a:ext>
            </a:extLst>
          </p:cNvPr>
          <p:cNvSpPr>
            <a:spLocks noGrp="1"/>
          </p:cNvSpPr>
          <p:nvPr/>
        </p:nvSpPr>
        <p:spPr>
          <a:xfrm>
            <a:off x="6819900" y="5419725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SQLite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хранит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аккаунты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компании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очередь</a:t>
            </a:r>
            <a:r>
              <a:rPr lang="ru-RU" sz="1463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уведомлений</a:t>
            </a:r>
            <a:r>
              <a:rPr lang="en-US" sz="1463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;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efined-req-10-40">
            <a:extLst>
              <a:ext uri="{FF2B5EF4-FFF2-40B4-BE49-F238E27FC236}">
                <a16:creationId xmlns:a16="http://schemas.microsoft.com/office/drawing/2014/main" id="{0B864FC7-4FEB-448F-810E-60AECACDAD26}"/>
              </a:ext>
            </a:extLst>
          </p:cNvPr>
          <p:cNvSpPr>
            <a:spLocks noGrp="1"/>
          </p:cNvSpPr>
          <p:nvPr/>
        </p:nvSpPr>
        <p:spPr>
          <a:xfrm>
            <a:off x="6819900" y="563880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JSON </a:t>
            </a:r>
            <a:r>
              <a:rPr lang="en-US"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-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снимки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каталога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  <a:r>
              <a:rPr lang="ru-RU" sz="1463" dirty="0">
                <a:solidFill>
                  <a:srgbClr val="41424B"/>
                </a:solidFill>
                <a:latin typeface="Arial"/>
              </a:rPr>
              <a:t>API-слой</a:t>
            </a:r>
            <a:r>
              <a:rPr lang="en-US" sz="1463" dirty="0">
                <a:solidFill>
                  <a:srgbClr val="41424B"/>
                </a:solidFill>
                <a:latin typeface="Arial"/>
              </a:rPr>
              <a:t> </a:t>
            </a:r>
            <a:r>
              <a:rPr lang="ru-RU" sz="1463" dirty="0">
                <a:solidFill>
                  <a:srgbClr val="41424B"/>
                </a:solidFill>
                <a:latin typeface="Arial"/>
              </a:rPr>
              <a:t>позволяет</a:t>
            </a:r>
            <a:r>
              <a:rPr lang="en-US" sz="1463" dirty="0">
                <a:solidFill>
                  <a:srgbClr val="41424B"/>
                </a:solidFill>
                <a:latin typeface="Arial"/>
              </a:rPr>
              <a:t> </a:t>
            </a:r>
            <a:r>
              <a:rPr lang="ru-RU" sz="1463" dirty="0">
                <a:solidFill>
                  <a:srgbClr val="41424B"/>
                </a:solidFill>
                <a:latin typeface="Arial"/>
              </a:rPr>
              <a:t>подключать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refined-req-10-40">
            <a:extLst>
              <a:ext uri="{FF2B5EF4-FFF2-40B4-BE49-F238E27FC236}">
                <a16:creationId xmlns:a16="http://schemas.microsoft.com/office/drawing/2014/main" id="{61C471D7-D099-4465-B2E2-36089A9A1503}"/>
              </a:ext>
            </a:extLst>
          </p:cNvPr>
          <p:cNvSpPr>
            <a:spLocks noGrp="1"/>
          </p:cNvSpPr>
          <p:nvPr/>
        </p:nvSpPr>
        <p:spPr>
          <a:xfrm>
            <a:off x="6819900" y="5857875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463" dirty="0">
                <a:solidFill>
                  <a:srgbClr val="41424B"/>
                </a:solidFill>
                <a:latin typeface="Arial"/>
              </a:rPr>
              <a:t>новые внешние системы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Для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сквозной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подачи</a:t>
            </a:r>
            <a:r>
              <a:rPr lang="en-US"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463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нужны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refined-req-10-40">
            <a:extLst>
              <a:ext uri="{FF2B5EF4-FFF2-40B4-BE49-F238E27FC236}">
                <a16:creationId xmlns:a16="http://schemas.microsoft.com/office/drawing/2014/main" id="{B815EC99-D5EA-4571-849B-B5BF998C1D47}"/>
              </a:ext>
            </a:extLst>
          </p:cNvPr>
          <p:cNvSpPr>
            <a:spLocks noGrp="1"/>
          </p:cNvSpPr>
          <p:nvPr/>
        </p:nvSpPr>
        <p:spPr>
          <a:xfrm>
            <a:off x="6819900" y="6076950"/>
            <a:ext cx="494347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официальные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адаптеры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ЕСИА,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ведомств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статусов</a:t>
            </a:r>
            <a:r>
              <a:rPr sz="1463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2" name="refined-req-10-41">
            <a:extLst>
              <a:ext uri="{FF2B5EF4-FFF2-40B4-BE49-F238E27FC236}">
                <a16:creationId xmlns:a16="http://schemas.microsoft.com/office/drawing/2014/main" id="{C04B3770-9529-455F-A438-C2FEB7B7EE2A}"/>
              </a:ext>
            </a:extLst>
          </p:cNvPr>
          <p:cNvSpPr>
            <a:spLocks noGrp="1"/>
          </p:cNvSpPr>
          <p:nvPr/>
        </p:nvSpPr>
        <p:spPr>
          <a:xfrm>
            <a:off x="5143500" y="6667500"/>
            <a:ext cx="32670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3"/>
              </a:rPr>
              <a:t>[5] Код, архитектура и интеграции</a:t>
            </a:r>
          </a:p>
        </p:txBody>
      </p:sp>
    </p:spTree>
    <p:extLst>
      <p:ext uri="{BB962C8B-B14F-4D97-AF65-F5344CB8AC3E}">
        <p14:creationId xmlns:p14="http://schemas.microsoft.com/office/powerpoint/2010/main" val="128939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11-7">
            <a:extLst>
              <a:ext uri="{FF2B5EF4-FFF2-40B4-BE49-F238E27FC236}">
                <a16:creationId xmlns:a16="http://schemas.microsoft.com/office/drawing/2014/main" id="{7BD4F10A-8B56-4743-889D-ADFCCD7D8593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11-10">
            <a:extLst>
              <a:ext uri="{FF2B5EF4-FFF2-40B4-BE49-F238E27FC236}">
                <a16:creationId xmlns:a16="http://schemas.microsoft.com/office/drawing/2014/main" id="{0041FAA9-5A74-49BA-80AE-862FECE65E41}"/>
              </a:ext>
            </a:extLst>
          </p:cNvPr>
          <p:cNvSpPr>
            <a:spLocks noGrp="1"/>
          </p:cNvSpPr>
          <p:nvPr/>
        </p:nvSpPr>
        <p:spPr>
          <a:xfrm>
            <a:off x="457200" y="1819275"/>
            <a:ext cx="3600450" cy="3200400"/>
          </a:xfrm>
          <a:prstGeom prst="roundRect">
            <a:avLst>
              <a:gd name="adj" fmla="val 7143"/>
            </a:avLst>
          </a:prstGeom>
          <a:solidFill>
            <a:srgbClr val="F0EDF8"/>
          </a:solidFill>
          <a:ln w="0">
            <a:noFill/>
          </a:ln>
        </p:spPr>
      </p:sp>
      <p:sp>
        <p:nvSpPr>
          <p:cNvPr id="4" name="refined-req-11-11">
            <a:extLst>
              <a:ext uri="{FF2B5EF4-FFF2-40B4-BE49-F238E27FC236}">
                <a16:creationId xmlns:a16="http://schemas.microsoft.com/office/drawing/2014/main" id="{7228E4FE-C4B1-438E-8E41-6C3616583A6A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5" name="refined-req-11-15">
            <a:extLst>
              <a:ext uri="{FF2B5EF4-FFF2-40B4-BE49-F238E27FC236}">
                <a16:creationId xmlns:a16="http://schemas.microsoft.com/office/drawing/2014/main" id="{F53DD0D8-B070-4C7A-A69C-D36D433CEE50}"/>
              </a:ext>
            </a:extLst>
          </p:cNvPr>
          <p:cNvSpPr>
            <a:spLocks noGrp="1"/>
          </p:cNvSpPr>
          <p:nvPr/>
        </p:nvSpPr>
        <p:spPr>
          <a:xfrm>
            <a:off x="4295775" y="1819275"/>
            <a:ext cx="3600450" cy="32004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0">
            <a:noFill/>
          </a:ln>
        </p:spPr>
      </p:sp>
      <p:sp>
        <p:nvSpPr>
          <p:cNvPr id="6" name="refined-req-11-16">
            <a:extLst>
              <a:ext uri="{FF2B5EF4-FFF2-40B4-BE49-F238E27FC236}">
                <a16:creationId xmlns:a16="http://schemas.microsoft.com/office/drawing/2014/main" id="{48C1F5DC-AE28-46B0-90BE-3024ECB28D11}"/>
              </a:ext>
            </a:extLst>
          </p:cNvPr>
          <p:cNvSpPr>
            <a:spLocks noGrp="1"/>
          </p:cNvSpPr>
          <p:nvPr/>
        </p:nvSpPr>
        <p:spPr>
          <a:xfrm>
            <a:off x="4524375" y="204787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7" name="refined-req-11-20">
            <a:extLst>
              <a:ext uri="{FF2B5EF4-FFF2-40B4-BE49-F238E27FC236}">
                <a16:creationId xmlns:a16="http://schemas.microsoft.com/office/drawing/2014/main" id="{F7954204-E8F5-4457-869B-C10EB6782BD3}"/>
              </a:ext>
            </a:extLst>
          </p:cNvPr>
          <p:cNvSpPr>
            <a:spLocks noGrp="1"/>
          </p:cNvSpPr>
          <p:nvPr/>
        </p:nvSpPr>
        <p:spPr>
          <a:xfrm>
            <a:off x="8134350" y="1819275"/>
            <a:ext cx="3600450" cy="320040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0">
            <a:noFill/>
          </a:ln>
        </p:spPr>
      </p:sp>
      <p:sp>
        <p:nvSpPr>
          <p:cNvPr id="8" name="refined-req-11-21">
            <a:extLst>
              <a:ext uri="{FF2B5EF4-FFF2-40B4-BE49-F238E27FC236}">
                <a16:creationId xmlns:a16="http://schemas.microsoft.com/office/drawing/2014/main" id="{334BF291-B2AD-49AF-84E4-3F91965E1CC6}"/>
              </a:ext>
            </a:extLst>
          </p:cNvPr>
          <p:cNvSpPr>
            <a:spLocks noGrp="1"/>
          </p:cNvSpPr>
          <p:nvPr/>
        </p:nvSpPr>
        <p:spPr>
          <a:xfrm>
            <a:off x="8362950" y="2047875"/>
            <a:ext cx="400050" cy="285750"/>
          </a:xfrm>
          <a:prstGeom prst="roundRect">
            <a:avLst>
              <a:gd name="adj" fmla="val 33333"/>
            </a:avLst>
          </a:prstGeom>
          <a:solidFill>
            <a:srgbClr val="6554B8"/>
          </a:solidFill>
          <a:ln w="0">
            <a:noFill/>
          </a:ln>
        </p:spPr>
      </p:sp>
      <p:sp>
        <p:nvSpPr>
          <p:cNvPr id="9" name="refined-req-11-25">
            <a:extLst>
              <a:ext uri="{FF2B5EF4-FFF2-40B4-BE49-F238E27FC236}">
                <a16:creationId xmlns:a16="http://schemas.microsoft.com/office/drawing/2014/main" id="{BA82757C-AB88-4BF1-A7C5-B3C856256995}"/>
              </a:ext>
            </a:extLst>
          </p:cNvPr>
          <p:cNvSpPr>
            <a:spLocks noGrp="1"/>
          </p:cNvSpPr>
          <p:nvPr/>
        </p:nvSpPr>
        <p:spPr>
          <a:xfrm>
            <a:off x="457200" y="5210175"/>
            <a:ext cx="11277600" cy="1219200"/>
          </a:xfrm>
          <a:prstGeom prst="roundRect">
            <a:avLst>
              <a:gd name="adj" fmla="val 18750"/>
            </a:avLst>
          </a:prstGeom>
          <a:solidFill>
            <a:srgbClr val="202126"/>
          </a:solidFill>
          <a:ln w="0">
            <a:noFill/>
          </a:ln>
        </p:spPr>
      </p:sp>
      <p:sp>
        <p:nvSpPr>
          <p:cNvPr id="11" name="refined-req-11-5">
            <a:extLst>
              <a:ext uri="{FF2B5EF4-FFF2-40B4-BE49-F238E27FC236}">
                <a16:creationId xmlns:a16="http://schemas.microsoft.com/office/drawing/2014/main" id="{382A6D48-2A5B-455E-B9C5-957FD2117D66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306175" cy="4451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2850" b="1" dirty="0">
                <a:solidFill>
                  <a:srgbClr val="202126"/>
                </a:solidFill>
                <a:latin typeface="Arial"/>
              </a:rPr>
              <a:t>Потенциал развития в банковской среде</a:t>
            </a:r>
            <a:endParaRPr sz="285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fined-req-11-6">
            <a:extLst>
              <a:ext uri="{FF2B5EF4-FFF2-40B4-BE49-F238E27FC236}">
                <a16:creationId xmlns:a16="http://schemas.microsoft.com/office/drawing/2014/main" id="{DC8383B2-0557-492D-8766-875EDC5E75B8}"/>
              </a:ext>
            </a:extLst>
          </p:cNvPr>
          <p:cNvSpPr>
            <a:spLocks noGrp="1"/>
          </p:cNvSpPr>
          <p:nvPr/>
        </p:nvSpPr>
        <p:spPr>
          <a:xfrm>
            <a:off x="457200" y="1409700"/>
            <a:ext cx="113061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fined-req-11-9">
            <a:extLst>
              <a:ext uri="{FF2B5EF4-FFF2-40B4-BE49-F238E27FC236}">
                <a16:creationId xmlns:a16="http://schemas.microsoft.com/office/drawing/2014/main" id="{37CEAE6A-21F6-41BD-9282-C45DA1986060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5768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" name="refined-req-11-12">
            <a:extLst>
              <a:ext uri="{FF2B5EF4-FFF2-40B4-BE49-F238E27FC236}">
                <a16:creationId xmlns:a16="http://schemas.microsoft.com/office/drawing/2014/main" id="{7AEBE2A4-4044-41A3-857A-A40F0BC5B518}"/>
              </a:ext>
            </a:extLst>
          </p:cNvPr>
          <p:cNvSpPr>
            <a:spLocks noGrp="1"/>
          </p:cNvSpPr>
          <p:nvPr/>
        </p:nvSpPr>
        <p:spPr>
          <a:xfrm>
            <a:off x="762000" y="206692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refined-req-11-13">
            <a:extLst>
              <a:ext uri="{FF2B5EF4-FFF2-40B4-BE49-F238E27FC236}">
                <a16:creationId xmlns:a16="http://schemas.microsoft.com/office/drawing/2014/main" id="{8EECD398-AE6E-40A3-BAC2-BE468630C69E}"/>
              </a:ext>
            </a:extLst>
          </p:cNvPr>
          <p:cNvSpPr>
            <a:spLocks noGrp="1"/>
          </p:cNvSpPr>
          <p:nvPr/>
        </p:nvSpPr>
        <p:spPr>
          <a:xfrm>
            <a:off x="1200150" y="2038350"/>
            <a:ext cx="2657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sz="1700" b="1" dirty="0">
                <a:solidFill>
                  <a:srgbClr val="202126"/>
                </a:solidFill>
                <a:latin typeface="Arial"/>
              </a:rPr>
              <a:t>Интеграция в клиентский</a:t>
            </a:r>
            <a:br>
              <a:rPr lang="ru-RU" sz="1700" b="1" dirty="0">
                <a:solidFill>
                  <a:srgbClr val="202126"/>
                </a:solidFill>
                <a:latin typeface="Arial"/>
              </a:rPr>
            </a:br>
            <a:r>
              <a:rPr lang="ru-RU" sz="1700" b="1" dirty="0">
                <a:solidFill>
                  <a:srgbClr val="202126"/>
                </a:solidFill>
                <a:latin typeface="Arial"/>
              </a:rPr>
              <a:t>путь банка</a:t>
            </a:r>
            <a:endParaRPr sz="17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fined-req-11-14">
            <a:extLst>
              <a:ext uri="{FF2B5EF4-FFF2-40B4-BE49-F238E27FC236}">
                <a16:creationId xmlns:a16="http://schemas.microsoft.com/office/drawing/2014/main" id="{DCD7DD11-E477-444A-839F-25562408D70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171825" cy="228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463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463" dirty="0">
                <a:solidFill>
                  <a:srgbClr val="41424B"/>
                </a:solidFill>
                <a:latin typeface="Arial"/>
              </a:rPr>
              <a:t>Сервис может быть встроен в 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цифровой канал для бизнеса: 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профиль компании по ИНН, подбор 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релевантных мер поддержки и 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сопровождение клиента в одном </a:t>
            </a:r>
            <a:br>
              <a:rPr lang="ru-RU" sz="1463" dirty="0">
                <a:solidFill>
                  <a:srgbClr val="41424B"/>
                </a:solidFill>
                <a:latin typeface="Arial"/>
              </a:rPr>
            </a:br>
            <a:r>
              <a:rPr lang="ru-RU" sz="1463" dirty="0">
                <a:solidFill>
                  <a:srgbClr val="41424B"/>
                </a:solidFill>
                <a:latin typeface="Arial"/>
              </a:rPr>
              <a:t>интерфейсе.</a:t>
            </a:r>
            <a:endParaRPr sz="1463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fined-req-11-17">
            <a:extLst>
              <a:ext uri="{FF2B5EF4-FFF2-40B4-BE49-F238E27FC236}">
                <a16:creationId xmlns:a16="http://schemas.microsoft.com/office/drawing/2014/main" id="{2DF0C326-312E-4353-898A-6795196430FA}"/>
              </a:ext>
            </a:extLst>
          </p:cNvPr>
          <p:cNvSpPr>
            <a:spLocks noGrp="1"/>
          </p:cNvSpPr>
          <p:nvPr/>
        </p:nvSpPr>
        <p:spPr>
          <a:xfrm>
            <a:off x="4600575" y="206692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refined-req-11-18">
            <a:extLst>
              <a:ext uri="{FF2B5EF4-FFF2-40B4-BE49-F238E27FC236}">
                <a16:creationId xmlns:a16="http://schemas.microsoft.com/office/drawing/2014/main" id="{CD127E7A-3A67-4745-AA58-DB23A9EB2402}"/>
              </a:ext>
            </a:extLst>
          </p:cNvPr>
          <p:cNvSpPr>
            <a:spLocks noGrp="1"/>
          </p:cNvSpPr>
          <p:nvPr/>
        </p:nvSpPr>
        <p:spPr>
          <a:xfrm>
            <a:off x="5038725" y="2038350"/>
            <a:ext cx="2657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Новые</a:t>
            </a:r>
            <a:r>
              <a:rPr sz="1800" b="1" dirty="0">
                <a:solidFill>
                  <a:srgbClr val="202126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202126"/>
                </a:solidFill>
                <a:latin typeface="Arial"/>
                <a:ea typeface="Arial"/>
                <a:cs typeface="Arial"/>
              </a:rPr>
              <a:t>финансовые</a:t>
            </a:r>
            <a:endParaRPr sz="18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fined-req-11-18">
            <a:extLst>
              <a:ext uri="{FF2B5EF4-FFF2-40B4-BE49-F238E27FC236}">
                <a16:creationId xmlns:a16="http://schemas.microsoft.com/office/drawing/2014/main" id="{8E2ADC4F-5F8F-4FB5-A418-A8F683F200B7}"/>
              </a:ext>
            </a:extLst>
          </p:cNvPr>
          <p:cNvSpPr>
            <a:spLocks noGrp="1"/>
          </p:cNvSpPr>
          <p:nvPr/>
        </p:nvSpPr>
        <p:spPr>
          <a:xfrm>
            <a:off x="5038725" y="2308027"/>
            <a:ext cx="2657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инструменты</a:t>
            </a:r>
          </a:p>
        </p:txBody>
      </p:sp>
      <p:sp>
        <p:nvSpPr>
          <p:cNvPr id="30" name="refined-req-11-19">
            <a:extLst>
              <a:ext uri="{FF2B5EF4-FFF2-40B4-BE49-F238E27FC236}">
                <a16:creationId xmlns:a16="http://schemas.microsoft.com/office/drawing/2014/main" id="{7F5C571C-EF7D-4E55-AB24-2E3FCCB2F102}"/>
              </a:ext>
            </a:extLst>
          </p:cNvPr>
          <p:cNvSpPr>
            <a:spLocks noGrp="1"/>
          </p:cNvSpPr>
          <p:nvPr/>
        </p:nvSpPr>
        <p:spPr>
          <a:xfrm>
            <a:off x="4524375" y="2686050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Расширяем подбор за пределы</a:t>
            </a:r>
          </a:p>
        </p:txBody>
      </p:sp>
      <p:sp>
        <p:nvSpPr>
          <p:cNvPr id="31" name="refined-req-11-19">
            <a:extLst>
              <a:ext uri="{FF2B5EF4-FFF2-40B4-BE49-F238E27FC236}">
                <a16:creationId xmlns:a16="http://schemas.microsoft.com/office/drawing/2014/main" id="{055D59D1-AC15-48CE-9B08-A88208BD7626}"/>
              </a:ext>
            </a:extLst>
          </p:cNvPr>
          <p:cNvSpPr>
            <a:spLocks noGrp="1"/>
          </p:cNvSpPr>
          <p:nvPr/>
        </p:nvSpPr>
        <p:spPr>
          <a:xfrm>
            <a:off x="4524375" y="2916436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субсидий: льготные кредиты,</a:t>
            </a:r>
          </a:p>
        </p:txBody>
      </p:sp>
      <p:sp>
        <p:nvSpPr>
          <p:cNvPr id="32" name="refined-req-11-19">
            <a:extLst>
              <a:ext uri="{FF2B5EF4-FFF2-40B4-BE49-F238E27FC236}">
                <a16:creationId xmlns:a16="http://schemas.microsoft.com/office/drawing/2014/main" id="{D4B2A24F-FFED-4474-ADE2-8EA7F7CDDC86}"/>
              </a:ext>
            </a:extLst>
          </p:cNvPr>
          <p:cNvSpPr>
            <a:spLocks noGrp="1"/>
          </p:cNvSpPr>
          <p:nvPr/>
        </p:nvSpPr>
        <p:spPr>
          <a:xfrm>
            <a:off x="4524375" y="3146822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коммерческие гранты,</a:t>
            </a:r>
          </a:p>
        </p:txBody>
      </p:sp>
      <p:sp>
        <p:nvSpPr>
          <p:cNvPr id="33" name="refined-req-11-19">
            <a:extLst>
              <a:ext uri="{FF2B5EF4-FFF2-40B4-BE49-F238E27FC236}">
                <a16:creationId xmlns:a16="http://schemas.microsoft.com/office/drawing/2014/main" id="{664FDFA2-541A-4A6E-BA0E-50491BBB3509}"/>
              </a:ext>
            </a:extLst>
          </p:cNvPr>
          <p:cNvSpPr>
            <a:spLocks noGrp="1"/>
          </p:cNvSpPr>
          <p:nvPr/>
        </p:nvSpPr>
        <p:spPr>
          <a:xfrm>
            <a:off x="4524375" y="3377208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промышленная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ипотека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и</a:t>
            </a:r>
          </a:p>
        </p:txBody>
      </p:sp>
      <p:sp>
        <p:nvSpPr>
          <p:cNvPr id="34" name="refined-req-11-19">
            <a:extLst>
              <a:ext uri="{FF2B5EF4-FFF2-40B4-BE49-F238E27FC236}">
                <a16:creationId xmlns:a16="http://schemas.microsoft.com/office/drawing/2014/main" id="{20FAD983-2920-41D7-AB3A-F31E3E402842}"/>
              </a:ext>
            </a:extLst>
          </p:cNvPr>
          <p:cNvSpPr>
            <a:spLocks noGrp="1"/>
          </p:cNvSpPr>
          <p:nvPr/>
        </p:nvSpPr>
        <p:spPr>
          <a:xfrm>
            <a:off x="4524375" y="3607594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госзакупки. Для каждого</a:t>
            </a:r>
          </a:p>
        </p:txBody>
      </p:sp>
      <p:sp>
        <p:nvSpPr>
          <p:cNvPr id="35" name="refined-req-11-19">
            <a:extLst>
              <a:ext uri="{FF2B5EF4-FFF2-40B4-BE49-F238E27FC236}">
                <a16:creationId xmlns:a16="http://schemas.microsoft.com/office/drawing/2014/main" id="{FD9FCB12-AB0A-44CB-937F-2DB136D8D32F}"/>
              </a:ext>
            </a:extLst>
          </p:cNvPr>
          <p:cNvSpPr>
            <a:spLocks noGrp="1"/>
          </p:cNvSpPr>
          <p:nvPr/>
        </p:nvSpPr>
        <p:spPr>
          <a:xfrm>
            <a:off x="4524375" y="3837980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инструмента добавляем критерии,</a:t>
            </a:r>
          </a:p>
        </p:txBody>
      </p:sp>
      <p:sp>
        <p:nvSpPr>
          <p:cNvPr id="36" name="refined-req-11-19">
            <a:extLst>
              <a:ext uri="{FF2B5EF4-FFF2-40B4-BE49-F238E27FC236}">
                <a16:creationId xmlns:a16="http://schemas.microsoft.com/office/drawing/2014/main" id="{ECB4EC60-0F9E-4EDF-83C2-B9BE418CEEC1}"/>
              </a:ext>
            </a:extLst>
          </p:cNvPr>
          <p:cNvSpPr>
            <a:spLocks noGrp="1"/>
          </p:cNvSpPr>
          <p:nvPr/>
        </p:nvSpPr>
        <p:spPr>
          <a:xfrm>
            <a:off x="4524375" y="4068366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документы и правила проверки.</a:t>
            </a:r>
          </a:p>
        </p:txBody>
      </p:sp>
      <p:sp>
        <p:nvSpPr>
          <p:cNvPr id="37" name="refined-req-11-19">
            <a:extLst>
              <a:ext uri="{FF2B5EF4-FFF2-40B4-BE49-F238E27FC236}">
                <a16:creationId xmlns:a16="http://schemas.microsoft.com/office/drawing/2014/main" id="{3F959EAF-D91C-4AB7-BB7A-F642B851853B}"/>
              </a:ext>
            </a:extLst>
          </p:cNvPr>
          <p:cNvSpPr>
            <a:spLocks noGrp="1"/>
          </p:cNvSpPr>
          <p:nvPr/>
        </p:nvSpPr>
        <p:spPr>
          <a:xfrm>
            <a:off x="4524375" y="4298752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538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efined-req-11-19">
            <a:extLst>
              <a:ext uri="{FF2B5EF4-FFF2-40B4-BE49-F238E27FC236}">
                <a16:creationId xmlns:a16="http://schemas.microsoft.com/office/drawing/2014/main" id="{2F975DC6-C0CB-44C6-BEE0-8914BD10C0DD}"/>
              </a:ext>
            </a:extLst>
          </p:cNvPr>
          <p:cNvSpPr>
            <a:spLocks noGrp="1"/>
          </p:cNvSpPr>
          <p:nvPr/>
        </p:nvSpPr>
        <p:spPr>
          <a:xfrm>
            <a:off x="4524375" y="4529138"/>
            <a:ext cx="31718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endParaRPr sz="1538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fined-req-11-22">
            <a:extLst>
              <a:ext uri="{FF2B5EF4-FFF2-40B4-BE49-F238E27FC236}">
                <a16:creationId xmlns:a16="http://schemas.microsoft.com/office/drawing/2014/main" id="{F49A445D-2788-4E37-A6E1-29C9741037CB}"/>
              </a:ext>
            </a:extLst>
          </p:cNvPr>
          <p:cNvSpPr>
            <a:spLocks noGrp="1"/>
          </p:cNvSpPr>
          <p:nvPr/>
        </p:nvSpPr>
        <p:spPr>
          <a:xfrm>
            <a:off x="8439150" y="2066925"/>
            <a:ext cx="323850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0" name="refined-req-11-23">
            <a:extLst>
              <a:ext uri="{FF2B5EF4-FFF2-40B4-BE49-F238E27FC236}">
                <a16:creationId xmlns:a16="http://schemas.microsoft.com/office/drawing/2014/main" id="{D6A4175B-F296-42DB-9581-4D39AFAC0A84}"/>
              </a:ext>
            </a:extLst>
          </p:cNvPr>
          <p:cNvSpPr>
            <a:spLocks noGrp="1"/>
          </p:cNvSpPr>
          <p:nvPr/>
        </p:nvSpPr>
        <p:spPr>
          <a:xfrm>
            <a:off x="8877300" y="2038350"/>
            <a:ext cx="2657475" cy="2811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lang="ru-RU" b="1" dirty="0">
                <a:solidFill>
                  <a:srgbClr val="202126"/>
                </a:solidFill>
                <a:latin typeface="Arial"/>
              </a:rPr>
              <a:t>Аналитический сервис</a:t>
            </a:r>
            <a:br>
              <a:rPr lang="ru-RU" b="1" dirty="0">
                <a:solidFill>
                  <a:srgbClr val="202126"/>
                </a:solidFill>
                <a:latin typeface="Arial"/>
              </a:rPr>
            </a:br>
            <a:r>
              <a:rPr lang="ru-RU" b="1" dirty="0">
                <a:solidFill>
                  <a:srgbClr val="202126"/>
                </a:solidFill>
                <a:latin typeface="Arial"/>
              </a:rPr>
              <a:t> для банка</a:t>
            </a:r>
            <a:endParaRPr sz="1800" b="1" dirty="0">
              <a:solidFill>
                <a:srgbClr val="2021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fined-req-11-24">
            <a:extLst>
              <a:ext uri="{FF2B5EF4-FFF2-40B4-BE49-F238E27FC236}">
                <a16:creationId xmlns:a16="http://schemas.microsoft.com/office/drawing/2014/main" id="{9775A45C-5261-4735-924F-F952E0613D00}"/>
              </a:ext>
            </a:extLst>
          </p:cNvPr>
          <p:cNvSpPr>
            <a:spLocks noGrp="1"/>
          </p:cNvSpPr>
          <p:nvPr/>
        </p:nvSpPr>
        <p:spPr>
          <a:xfrm>
            <a:off x="8362950" y="2686050"/>
            <a:ext cx="31718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575" dirty="0">
                <a:solidFill>
                  <a:srgbClr val="41424B"/>
                </a:solidFill>
                <a:latin typeface="Arial"/>
              </a:rPr>
              <a:t>Профиль компании и её запрос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могут использоваться для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формирования более релевантных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рекомендаций бизнес-клиенту.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Потенциальная интеграция –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с каталогом продуктов,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цифровыми каналами и статусами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заявок банка.</a:t>
            </a:r>
            <a:endParaRPr sz="1575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refined-req-11-26">
            <a:extLst>
              <a:ext uri="{FF2B5EF4-FFF2-40B4-BE49-F238E27FC236}">
                <a16:creationId xmlns:a16="http://schemas.microsoft.com/office/drawing/2014/main" id="{F03EFE6B-F778-41A2-8846-7F190EA31768}"/>
              </a:ext>
            </a:extLst>
          </p:cNvPr>
          <p:cNvSpPr>
            <a:spLocks noGrp="1"/>
          </p:cNvSpPr>
          <p:nvPr/>
        </p:nvSpPr>
        <p:spPr>
          <a:xfrm>
            <a:off x="685800" y="5419725"/>
            <a:ext cx="210502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Общее ядро</a:t>
            </a:r>
          </a:p>
        </p:txBody>
      </p:sp>
      <p:sp>
        <p:nvSpPr>
          <p:cNvPr id="51" name="refined-req-11-26">
            <a:extLst>
              <a:ext uri="{FF2B5EF4-FFF2-40B4-BE49-F238E27FC236}">
                <a16:creationId xmlns:a16="http://schemas.microsoft.com/office/drawing/2014/main" id="{E2B8A37F-84A8-47BA-8FD5-DF7BFBA7C12C}"/>
              </a:ext>
            </a:extLst>
          </p:cNvPr>
          <p:cNvSpPr>
            <a:spLocks noGrp="1"/>
          </p:cNvSpPr>
          <p:nvPr/>
        </p:nvSpPr>
        <p:spPr>
          <a:xfrm>
            <a:off x="685800" y="5700713"/>
            <a:ext cx="2105025" cy="29289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адаптация</a:t>
            </a:r>
          </a:p>
        </p:txBody>
      </p:sp>
      <p:sp>
        <p:nvSpPr>
          <p:cNvPr id="52" name="refined-req-11-27">
            <a:extLst>
              <a:ext uri="{FF2B5EF4-FFF2-40B4-BE49-F238E27FC236}">
                <a16:creationId xmlns:a16="http://schemas.microsoft.com/office/drawing/2014/main" id="{5ACAC6AB-455C-4991-A437-EB561B882304}"/>
              </a:ext>
            </a:extLst>
          </p:cNvPr>
          <p:cNvSpPr>
            <a:spLocks noGrp="1"/>
          </p:cNvSpPr>
          <p:nvPr/>
        </p:nvSpPr>
        <p:spPr>
          <a:xfrm>
            <a:off x="2981325" y="5410200"/>
            <a:ext cx="85058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При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переносе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сохраняются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профиль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по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ИНН,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механизм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подбора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и ИИ-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контекст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3" name="refined-req-11-27">
            <a:extLst>
              <a:ext uri="{FF2B5EF4-FFF2-40B4-BE49-F238E27FC236}">
                <a16:creationId xmlns:a16="http://schemas.microsoft.com/office/drawing/2014/main" id="{CFFD6377-A651-4099-B594-AF34CD92D6D2}"/>
              </a:ext>
            </a:extLst>
          </p:cNvPr>
          <p:cNvSpPr>
            <a:spLocks noGrp="1"/>
          </p:cNvSpPr>
          <p:nvPr/>
        </p:nvSpPr>
        <p:spPr>
          <a:xfrm>
            <a:off x="2981325" y="5646093"/>
            <a:ext cx="85058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Настраиваются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региональные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источники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нормативные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критерии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формы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 и </a:t>
            </a: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каналы</a:t>
            </a:r>
            <a:endParaRPr sz="1575" b="0" dirty="0">
              <a:solidFill>
                <a:srgbClr val="E7E4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refined-req-11-27">
            <a:extLst>
              <a:ext uri="{FF2B5EF4-FFF2-40B4-BE49-F238E27FC236}">
                <a16:creationId xmlns:a16="http://schemas.microsoft.com/office/drawing/2014/main" id="{575C903A-4009-4EA1-BDF7-CF40CFB65EF0}"/>
              </a:ext>
            </a:extLst>
          </p:cNvPr>
          <p:cNvSpPr>
            <a:spLocks noGrp="1"/>
          </p:cNvSpPr>
          <p:nvPr/>
        </p:nvSpPr>
        <p:spPr>
          <a:xfrm>
            <a:off x="2981325" y="5881985"/>
            <a:ext cx="85058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E7E4ED"/>
                </a:solidFill>
                <a:latin typeface="Arial"/>
                <a:ea typeface="Arial"/>
                <a:cs typeface="Arial"/>
              </a:rPr>
              <a:t>подачи</a:t>
            </a:r>
            <a:r>
              <a:rPr sz="1575" b="0" dirty="0">
                <a:solidFill>
                  <a:srgbClr val="E7E4ED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55" name="refined-req-11-27">
            <a:extLst>
              <a:ext uri="{FF2B5EF4-FFF2-40B4-BE49-F238E27FC236}">
                <a16:creationId xmlns:a16="http://schemas.microsoft.com/office/drawing/2014/main" id="{2F5E1432-FBB9-45F3-AB84-6E65446AED09}"/>
              </a:ext>
            </a:extLst>
          </p:cNvPr>
          <p:cNvSpPr>
            <a:spLocks noGrp="1"/>
          </p:cNvSpPr>
          <p:nvPr/>
        </p:nvSpPr>
        <p:spPr>
          <a:xfrm>
            <a:off x="2981325" y="6117878"/>
            <a:ext cx="85058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E7E4ED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E7E4E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236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ined-req-14-7">
            <a:extLst>
              <a:ext uri="{FF2B5EF4-FFF2-40B4-BE49-F238E27FC236}">
                <a16:creationId xmlns:a16="http://schemas.microsoft.com/office/drawing/2014/main" id="{ACCA7560-3475-4D03-AE73-A537F05EC33F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1277600" cy="9525"/>
          </a:xfrm>
          <a:prstGeom prst="roundRect">
            <a:avLst>
              <a:gd name="adj" fmla="val 0"/>
            </a:avLst>
          </a:prstGeom>
          <a:solidFill>
            <a:srgbClr val="E4E3EA"/>
          </a:solidFill>
          <a:ln w="0">
            <a:noFill/>
          </a:ln>
        </p:spPr>
      </p:sp>
      <p:sp>
        <p:nvSpPr>
          <p:cNvPr id="3" name="refined-req-14-4">
            <a:extLst>
              <a:ext uri="{FF2B5EF4-FFF2-40B4-BE49-F238E27FC236}">
                <a16:creationId xmlns:a16="http://schemas.microsoft.com/office/drawing/2014/main" id="{F09BBE17-DBAF-4407-B39E-8034A9C72F97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77575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1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6554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fined-req-14-5">
            <a:extLst>
              <a:ext uri="{FF2B5EF4-FFF2-40B4-BE49-F238E27FC236}">
                <a16:creationId xmlns:a16="http://schemas.microsoft.com/office/drawing/2014/main" id="{26C7CBB7-996B-4B8E-8A77-056D1417D2F9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306175" cy="4451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Источники и основания</a:t>
            </a:r>
          </a:p>
        </p:txBody>
      </p:sp>
      <p:sp>
        <p:nvSpPr>
          <p:cNvPr id="5" name="refined-req-14-6">
            <a:extLst>
              <a:ext uri="{FF2B5EF4-FFF2-40B4-BE49-F238E27FC236}">
                <a16:creationId xmlns:a16="http://schemas.microsoft.com/office/drawing/2014/main" id="{F434E878-BB10-4388-87D4-1B468E09D271}"/>
              </a:ext>
            </a:extLst>
          </p:cNvPr>
          <p:cNvSpPr>
            <a:spLocks noGrp="1"/>
          </p:cNvSpPr>
          <p:nvPr/>
        </p:nvSpPr>
        <p:spPr>
          <a:xfrm>
            <a:off x="457200" y="1409700"/>
            <a:ext cx="11306175" cy="2108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350" b="0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fined-req-14-8">
            <a:extLst>
              <a:ext uri="{FF2B5EF4-FFF2-40B4-BE49-F238E27FC236}">
                <a16:creationId xmlns:a16="http://schemas.microsoft.com/office/drawing/2014/main" id="{4FA8B045-AAA6-4DE7-A563-B10BFD743FD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3838575" cy="1171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750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endParaRPr sz="750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fined-req-14-9">
            <a:extLst>
              <a:ext uri="{FF2B5EF4-FFF2-40B4-BE49-F238E27FC236}">
                <a16:creationId xmlns:a16="http://schemas.microsoft.com/office/drawing/2014/main" id="{A0429E9C-36F9-430C-AF07-910471955401}"/>
              </a:ext>
            </a:extLst>
          </p:cNvPr>
          <p:cNvSpPr>
            <a:spLocks noGrp="1"/>
          </p:cNvSpPr>
          <p:nvPr/>
        </p:nvSpPr>
        <p:spPr>
          <a:xfrm>
            <a:off x="11468100" y="6638925"/>
            <a:ext cx="314325" cy="1523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75" b="1">
                <a:solidFill>
                  <a:srgbClr val="757681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757681"/>
                </a:solidFill>
                <a:latin typeface="Arial"/>
                <a:ea typeface="Arial"/>
                <a:cs typeface="Arial"/>
              </a:rPr>
              <a:t>1</a:t>
            </a:r>
            <a:r>
              <a:rPr lang="ru-RU" sz="975" b="1" dirty="0">
                <a:solidFill>
                  <a:srgbClr val="757681"/>
                </a:solidFill>
                <a:latin typeface="Arial"/>
                <a:ea typeface="Arial"/>
                <a:cs typeface="Arial"/>
              </a:rPr>
              <a:t>2</a:t>
            </a:r>
            <a:endParaRPr sz="975" b="1" dirty="0">
              <a:solidFill>
                <a:srgbClr val="7576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fined-req-14-10">
            <a:extLst>
              <a:ext uri="{FF2B5EF4-FFF2-40B4-BE49-F238E27FC236}">
                <a16:creationId xmlns:a16="http://schemas.microsoft.com/office/drawing/2014/main" id="{C913A8E0-4D31-4C89-8E47-6C1346F04AFD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49592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[1] Барьеры доступа к господдержке</a:t>
            </a:r>
          </a:p>
        </p:txBody>
      </p:sp>
      <p:sp>
        <p:nvSpPr>
          <p:cNvPr id="9" name="refined-req-14-11">
            <a:extLst>
              <a:ext uri="{FF2B5EF4-FFF2-40B4-BE49-F238E27FC236}">
                <a16:creationId xmlns:a16="http://schemas.microsoft.com/office/drawing/2014/main" id="{15047A7A-08CA-49F0-AF71-F03ABF33F90E}"/>
              </a:ext>
            </a:extLst>
          </p:cNvPr>
          <p:cNvSpPr>
            <a:spLocks noGrp="1"/>
          </p:cNvSpPr>
          <p:nvPr/>
        </p:nvSpPr>
        <p:spPr>
          <a:xfrm>
            <a:off x="457200" y="2181225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ИСИЭЗ НИУ ВШЭ, 19.02.2026: опрос 2025 года, 1 243</a:t>
            </a:r>
          </a:p>
        </p:txBody>
      </p:sp>
      <p:sp>
        <p:nvSpPr>
          <p:cNvPr id="10" name="refined-req-14-11">
            <a:extLst>
              <a:ext uri="{FF2B5EF4-FFF2-40B4-BE49-F238E27FC236}">
                <a16:creationId xmlns:a16="http://schemas.microsoft.com/office/drawing/2014/main" id="{E6B1B31E-B120-41BF-9865-9BEE60BDD7F7}"/>
              </a:ext>
            </a:extLst>
          </p:cNvPr>
          <p:cNvSpPr>
            <a:spLocks noGrp="1"/>
          </p:cNvSpPr>
          <p:nvPr/>
        </p:nvSpPr>
        <p:spPr>
          <a:xfrm>
            <a:off x="457200" y="2417118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промышленных предприятия. Среди МСП выборки 42%</a:t>
            </a:r>
          </a:p>
        </p:txBody>
      </p:sp>
      <p:sp>
        <p:nvSpPr>
          <p:cNvPr id="11" name="refined-req-14-11">
            <a:extLst>
              <a:ext uri="{FF2B5EF4-FFF2-40B4-BE49-F238E27FC236}">
                <a16:creationId xmlns:a16="http://schemas.microsoft.com/office/drawing/2014/main" id="{47D742E8-6B34-40DB-A16B-61691793ABF9}"/>
              </a:ext>
            </a:extLst>
          </p:cNvPr>
          <p:cNvSpPr>
            <a:spLocks noGrp="1"/>
          </p:cNvSpPr>
          <p:nvPr/>
        </p:nvSpPr>
        <p:spPr>
          <a:xfrm>
            <a:off x="457200" y="2653010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отмечают нехватку информации, около 40% — сложность</a:t>
            </a:r>
          </a:p>
        </p:txBody>
      </p:sp>
      <p:sp>
        <p:nvSpPr>
          <p:cNvPr id="12" name="refined-req-14-11">
            <a:extLst>
              <a:ext uri="{FF2B5EF4-FFF2-40B4-BE49-F238E27FC236}">
                <a16:creationId xmlns:a16="http://schemas.microsoft.com/office/drawing/2014/main" id="{E77A611F-93BD-4A51-BA92-D177B6088265}"/>
              </a:ext>
            </a:extLst>
          </p:cNvPr>
          <p:cNvSpPr>
            <a:spLocks noGrp="1"/>
          </p:cNvSpPr>
          <p:nvPr/>
        </p:nvSpPr>
        <p:spPr>
          <a:xfrm>
            <a:off x="457200" y="2888903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документов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30% </a:t>
            </a:r>
            <a:r>
              <a:rPr lang="ru-RU"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-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отсутствие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мер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задачи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бизнеса</a:t>
            </a:r>
            <a:r>
              <a:rPr sz="1575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refined-req-14-12">
            <a:extLst>
              <a:ext uri="{FF2B5EF4-FFF2-40B4-BE49-F238E27FC236}">
                <a16:creationId xmlns:a16="http://schemas.microsoft.com/office/drawing/2014/main" id="{086B0B92-51EE-4D43-88F8-31BEB3F881DB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49592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[2] Процедуры и доступность</a:t>
            </a:r>
          </a:p>
        </p:txBody>
      </p:sp>
      <p:sp>
        <p:nvSpPr>
          <p:cNvPr id="14" name="refined-req-14-13">
            <a:extLst>
              <a:ext uri="{FF2B5EF4-FFF2-40B4-BE49-F238E27FC236}">
                <a16:creationId xmlns:a16="http://schemas.microsoft.com/office/drawing/2014/main" id="{B0EC74A7-F764-4D2B-9800-EB71D684A359}"/>
              </a:ext>
            </a:extLst>
          </p:cNvPr>
          <p:cNvSpPr>
            <a:spLocks noGrp="1"/>
          </p:cNvSpPr>
          <p:nvPr/>
        </p:nvSpPr>
        <p:spPr>
          <a:xfrm>
            <a:off x="6210300" y="2181225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АСИ, Фонд Росконгресс, Группа ДРТ и Media Instinct</a:t>
            </a:r>
          </a:p>
        </p:txBody>
      </p:sp>
      <p:sp>
        <p:nvSpPr>
          <p:cNvPr id="15" name="refined-req-14-13">
            <a:extLst>
              <a:ext uri="{FF2B5EF4-FFF2-40B4-BE49-F238E27FC236}">
                <a16:creationId xmlns:a16="http://schemas.microsoft.com/office/drawing/2014/main" id="{8AFE7102-80F8-469D-A84B-023898DBC8BC}"/>
              </a:ext>
            </a:extLst>
          </p:cNvPr>
          <p:cNvSpPr>
            <a:spLocks noGrp="1"/>
          </p:cNvSpPr>
          <p:nvPr/>
        </p:nvSpPr>
        <p:spPr>
          <a:xfrm>
            <a:off x="6210300" y="2417118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Group, 19.06.2026: сложная навигация и процедурные</a:t>
            </a:r>
          </a:p>
        </p:txBody>
      </p:sp>
      <p:sp>
        <p:nvSpPr>
          <p:cNvPr id="16" name="refined-req-14-13">
            <a:extLst>
              <a:ext uri="{FF2B5EF4-FFF2-40B4-BE49-F238E27FC236}">
                <a16:creationId xmlns:a16="http://schemas.microsoft.com/office/drawing/2014/main" id="{39BFABBC-988E-4C5E-85BE-DCA1EC2A8ADF}"/>
              </a:ext>
            </a:extLst>
          </p:cNvPr>
          <p:cNvSpPr>
            <a:spLocks noGrp="1"/>
          </p:cNvSpPr>
          <p:nvPr/>
        </p:nvSpPr>
        <p:spPr>
          <a:xfrm>
            <a:off x="6210300" y="2653010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барьеры ограничивают доступ к поддержке.</a:t>
            </a:r>
          </a:p>
        </p:txBody>
      </p:sp>
      <p:sp>
        <p:nvSpPr>
          <p:cNvPr id="17" name="refined-req-14-13">
            <a:extLst>
              <a:ext uri="{FF2B5EF4-FFF2-40B4-BE49-F238E27FC236}">
                <a16:creationId xmlns:a16="http://schemas.microsoft.com/office/drawing/2014/main" id="{E256A7E0-E713-4B3F-81F5-D2FF75C4A6D5}"/>
              </a:ext>
            </a:extLst>
          </p:cNvPr>
          <p:cNvSpPr>
            <a:spLocks noGrp="1"/>
          </p:cNvSpPr>
          <p:nvPr/>
        </p:nvSpPr>
        <p:spPr>
          <a:xfrm>
            <a:off x="6210300" y="2888903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Исследование обосновывает потребность в упрощении</a:t>
            </a:r>
          </a:p>
        </p:txBody>
      </p:sp>
      <p:sp>
        <p:nvSpPr>
          <p:cNvPr id="18" name="refined-req-14-13">
            <a:extLst>
              <a:ext uri="{FF2B5EF4-FFF2-40B4-BE49-F238E27FC236}">
                <a16:creationId xmlns:a16="http://schemas.microsoft.com/office/drawing/2014/main" id="{B3B290B7-674B-4CBF-8B5A-6C4735127EC6}"/>
              </a:ext>
            </a:extLst>
          </p:cNvPr>
          <p:cNvSpPr>
            <a:spLocks noGrp="1"/>
          </p:cNvSpPr>
          <p:nvPr/>
        </p:nvSpPr>
        <p:spPr>
          <a:xfrm>
            <a:off x="6210300" y="3124795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пользовательского пути.</a:t>
            </a:r>
          </a:p>
        </p:txBody>
      </p:sp>
      <p:sp>
        <p:nvSpPr>
          <p:cNvPr id="19" name="refined-req-14-14">
            <a:extLst>
              <a:ext uri="{FF2B5EF4-FFF2-40B4-BE49-F238E27FC236}">
                <a16:creationId xmlns:a16="http://schemas.microsoft.com/office/drawing/2014/main" id="{3E906C3E-3890-44C4-A142-CEB1F766ECC7}"/>
              </a:ext>
            </a:extLst>
          </p:cNvPr>
          <p:cNvSpPr>
            <a:spLocks noGrp="1"/>
          </p:cNvSpPr>
          <p:nvPr/>
        </p:nvSpPr>
        <p:spPr>
          <a:xfrm>
            <a:off x="457200" y="3771900"/>
            <a:ext cx="549592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[3–4] Рынок и альтернативы</a:t>
            </a:r>
          </a:p>
        </p:txBody>
      </p:sp>
      <p:sp>
        <p:nvSpPr>
          <p:cNvPr id="20" name="refined-req-14-15">
            <a:extLst>
              <a:ext uri="{FF2B5EF4-FFF2-40B4-BE49-F238E27FC236}">
                <a16:creationId xmlns:a16="http://schemas.microsoft.com/office/drawing/2014/main" id="{F15758C8-D5B1-4244-A97D-29036BFBEA49}"/>
              </a:ext>
            </a:extLst>
          </p:cNvPr>
          <p:cNvSpPr>
            <a:spLocks noGrp="1"/>
          </p:cNvSpPr>
          <p:nvPr/>
        </p:nvSpPr>
        <p:spPr>
          <a:xfrm>
            <a:off x="457200" y="4143375"/>
            <a:ext cx="5495925" cy="246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lang="ru-RU" sz="1575" dirty="0">
                <a:solidFill>
                  <a:srgbClr val="41424B"/>
                </a:solidFill>
                <a:latin typeface="Arial"/>
              </a:rPr>
              <a:t>ФНС, 10.07.2026: 6,6 млн субъектов МСП. Корпорация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МСП предлагает адресный подбор мер на МСП.РФ.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Это подтверждает масштаб целевой аудитории и </a:t>
            </a:r>
            <a:br>
              <a:rPr lang="ru-RU" sz="1575" dirty="0">
                <a:solidFill>
                  <a:srgbClr val="41424B"/>
                </a:solidFill>
                <a:latin typeface="Arial"/>
              </a:rPr>
            </a:br>
            <a:r>
              <a:rPr lang="ru-RU" sz="1575" dirty="0">
                <a:solidFill>
                  <a:srgbClr val="41424B"/>
                </a:solidFill>
                <a:latin typeface="Arial"/>
              </a:rPr>
              <a:t>наличие цифровых решений в этой области.</a:t>
            </a:r>
            <a:endParaRPr sz="1575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efined-req-14-16">
            <a:extLst>
              <a:ext uri="{FF2B5EF4-FFF2-40B4-BE49-F238E27FC236}">
                <a16:creationId xmlns:a16="http://schemas.microsoft.com/office/drawing/2014/main" id="{400755BB-4555-4373-A71D-D0A005DE3D2E}"/>
              </a:ext>
            </a:extLst>
          </p:cNvPr>
          <p:cNvSpPr>
            <a:spLocks noGrp="1"/>
          </p:cNvSpPr>
          <p:nvPr/>
        </p:nvSpPr>
        <p:spPr>
          <a:xfrm>
            <a:off x="6210300" y="3771900"/>
            <a:ext cx="5495925" cy="269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725" b="1">
                <a:solidFill>
                  <a:srgbClr val="2021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6"/>
                </a:solidFill>
                <a:latin typeface="Arial"/>
                <a:ea typeface="Arial"/>
                <a:cs typeface="Arial"/>
              </a:rPr>
              <a:t>[5–7] Продукт и демонстрации</a:t>
            </a:r>
          </a:p>
        </p:txBody>
      </p:sp>
      <p:sp>
        <p:nvSpPr>
          <p:cNvPr id="26" name="refined-req-14-17">
            <a:extLst>
              <a:ext uri="{FF2B5EF4-FFF2-40B4-BE49-F238E27FC236}">
                <a16:creationId xmlns:a16="http://schemas.microsoft.com/office/drawing/2014/main" id="{BE035B07-48D9-4440-98E1-1CB6A68A9A13}"/>
              </a:ext>
            </a:extLst>
          </p:cNvPr>
          <p:cNvSpPr>
            <a:spLocks noGrp="1"/>
          </p:cNvSpPr>
          <p:nvPr/>
        </p:nvSpPr>
        <p:spPr>
          <a:xfrm>
            <a:off x="6210300" y="4143375"/>
            <a:ext cx="54959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Архитектура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доступные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описаны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приложении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refined-req-14-17">
            <a:extLst>
              <a:ext uri="{FF2B5EF4-FFF2-40B4-BE49-F238E27FC236}">
                <a16:creationId xmlns:a16="http://schemas.microsoft.com/office/drawing/2014/main" id="{71F3B85B-9E19-4C2C-AF67-C7086AE79181}"/>
              </a:ext>
            </a:extLst>
          </p:cNvPr>
          <p:cNvSpPr>
            <a:spLocks noGrp="1"/>
          </p:cNvSpPr>
          <p:nvPr/>
        </p:nvSpPr>
        <p:spPr>
          <a:xfrm>
            <a:off x="6210300" y="4373761"/>
            <a:ext cx="54959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В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записи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-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интерфейс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приложения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учебная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компания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endParaRPr sz="1538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fined-req-14-17">
            <a:extLst>
              <a:ext uri="{FF2B5EF4-FFF2-40B4-BE49-F238E27FC236}">
                <a16:creationId xmlns:a16="http://schemas.microsoft.com/office/drawing/2014/main" id="{61C5420A-376D-497D-AE1A-B94A78945B05}"/>
              </a:ext>
            </a:extLst>
          </p:cNvPr>
          <p:cNvSpPr>
            <a:spLocks noGrp="1"/>
          </p:cNvSpPr>
          <p:nvPr/>
        </p:nvSpPr>
        <p:spPr>
          <a:xfrm>
            <a:off x="6210300" y="4604147"/>
            <a:ext cx="54959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подготовленные ответы источников и ИИ. ФСИ показывает</a:t>
            </a:r>
          </a:p>
        </p:txBody>
      </p:sp>
      <p:sp>
        <p:nvSpPr>
          <p:cNvPr id="29" name="refined-req-14-17">
            <a:extLst>
              <a:ext uri="{FF2B5EF4-FFF2-40B4-BE49-F238E27FC236}">
                <a16:creationId xmlns:a16="http://schemas.microsoft.com/office/drawing/2014/main" id="{909698E3-3863-43E2-8AC3-C893899A2D92}"/>
              </a:ext>
            </a:extLst>
          </p:cNvPr>
          <p:cNvSpPr>
            <a:spLocks noGrp="1"/>
          </p:cNvSpPr>
          <p:nvPr/>
        </p:nvSpPr>
        <p:spPr>
          <a:xfrm>
            <a:off x="6210300" y="4834533"/>
            <a:ext cx="54959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пример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гранта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, ФРП </a:t>
            </a:r>
            <a:r>
              <a:rPr lang="ru-RU"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-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займа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.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Реальная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подача</a:t>
            </a:r>
            <a:r>
              <a:rPr sz="1538" b="0" dirty="0">
                <a:solidFill>
                  <a:srgbClr val="41424B"/>
                </a:solidFill>
                <a:latin typeface="Arial"/>
                <a:ea typeface="Arial"/>
                <a:cs typeface="Arial"/>
              </a:rPr>
              <a:t> </a:t>
            </a:r>
            <a:r>
              <a:rPr sz="1538" b="0" dirty="0" err="1">
                <a:solidFill>
                  <a:srgbClr val="41424B"/>
                </a:solidFill>
                <a:latin typeface="Arial"/>
                <a:ea typeface="Arial"/>
                <a:cs typeface="Arial"/>
              </a:rPr>
              <a:t>и</a:t>
            </a:r>
            <a:endParaRPr sz="1538" b="0" dirty="0">
              <a:solidFill>
                <a:srgbClr val="4142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fined-req-14-17">
            <a:extLst>
              <a:ext uri="{FF2B5EF4-FFF2-40B4-BE49-F238E27FC236}">
                <a16:creationId xmlns:a16="http://schemas.microsoft.com/office/drawing/2014/main" id="{760D8668-3E07-4E3F-ADF9-A3822FD2A32F}"/>
              </a:ext>
            </a:extLst>
          </p:cNvPr>
          <p:cNvSpPr>
            <a:spLocks noGrp="1"/>
          </p:cNvSpPr>
          <p:nvPr/>
        </p:nvSpPr>
        <p:spPr>
          <a:xfrm>
            <a:off x="6210300" y="5064919"/>
            <a:ext cx="5495925" cy="240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38" b="0">
                <a:solidFill>
                  <a:srgbClr val="41424B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41424B"/>
                </a:solidFill>
                <a:latin typeface="Arial"/>
                <a:ea typeface="Arial"/>
                <a:cs typeface="Arial"/>
              </a:rPr>
              <a:t>государственные статусы не подключены.</a:t>
            </a:r>
          </a:p>
        </p:txBody>
      </p:sp>
      <p:sp>
        <p:nvSpPr>
          <p:cNvPr id="31" name="refined-req-14-18">
            <a:extLst>
              <a:ext uri="{FF2B5EF4-FFF2-40B4-BE49-F238E27FC236}">
                <a16:creationId xmlns:a16="http://schemas.microsoft.com/office/drawing/2014/main" id="{88088F97-7997-42E6-A20F-E413A2779CE1}"/>
              </a:ext>
            </a:extLst>
          </p:cNvPr>
          <p:cNvSpPr>
            <a:spLocks noGrp="1"/>
          </p:cNvSpPr>
          <p:nvPr/>
        </p:nvSpPr>
        <p:spPr>
          <a:xfrm>
            <a:off x="457200" y="58388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3"/>
              </a:rPr>
              <a:t>[1] Исследование НИУ ВШЭ</a:t>
            </a:r>
          </a:p>
        </p:txBody>
      </p:sp>
      <p:sp>
        <p:nvSpPr>
          <p:cNvPr id="32" name="refined-req-14-19">
            <a:extLst>
              <a:ext uri="{FF2B5EF4-FFF2-40B4-BE49-F238E27FC236}">
                <a16:creationId xmlns:a16="http://schemas.microsoft.com/office/drawing/2014/main" id="{DF8D7159-4133-48C5-B261-9EA7A98D0976}"/>
              </a:ext>
            </a:extLst>
          </p:cNvPr>
          <p:cNvSpPr>
            <a:spLocks noGrp="1"/>
          </p:cNvSpPr>
          <p:nvPr/>
        </p:nvSpPr>
        <p:spPr>
          <a:xfrm>
            <a:off x="4295775" y="58388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4"/>
              </a:rPr>
              <a:t>[2] АСИ и Росконгресс</a:t>
            </a:r>
          </a:p>
        </p:txBody>
      </p:sp>
      <p:sp>
        <p:nvSpPr>
          <p:cNvPr id="33" name="refined-req-14-20">
            <a:extLst>
              <a:ext uri="{FF2B5EF4-FFF2-40B4-BE49-F238E27FC236}">
                <a16:creationId xmlns:a16="http://schemas.microsoft.com/office/drawing/2014/main" id="{1878C580-2F90-42D8-82F9-FB11533766D0}"/>
              </a:ext>
            </a:extLst>
          </p:cNvPr>
          <p:cNvSpPr>
            <a:spLocks noGrp="1"/>
          </p:cNvSpPr>
          <p:nvPr/>
        </p:nvSpPr>
        <p:spPr>
          <a:xfrm>
            <a:off x="8134350" y="58388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5"/>
              </a:rPr>
              <a:t>[3] ФНС: реестр МСП</a:t>
            </a:r>
          </a:p>
        </p:txBody>
      </p:sp>
      <p:sp>
        <p:nvSpPr>
          <p:cNvPr id="34" name="refined-req-14-21">
            <a:extLst>
              <a:ext uri="{FF2B5EF4-FFF2-40B4-BE49-F238E27FC236}">
                <a16:creationId xmlns:a16="http://schemas.microsoft.com/office/drawing/2014/main" id="{7169BC93-9141-4605-BADB-C479AC8E4C24}"/>
              </a:ext>
            </a:extLst>
          </p:cNvPr>
          <p:cNvSpPr>
            <a:spLocks noGrp="1"/>
          </p:cNvSpPr>
          <p:nvPr/>
        </p:nvSpPr>
        <p:spPr>
          <a:xfrm>
            <a:off x="457200" y="60674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6554B8"/>
                </a:solidFill>
                <a:latin typeface="Arial"/>
                <a:ea typeface="Arial"/>
                <a:cs typeface="Arial"/>
                <a:hlinkClick r:id="rId6"/>
              </a:rPr>
              <a:t>[4] МСП.РФ: </a:t>
            </a:r>
            <a:r>
              <a:rPr sz="900" b="0" dirty="0" err="1">
                <a:solidFill>
                  <a:srgbClr val="6554B8"/>
                </a:solidFill>
                <a:latin typeface="Arial"/>
                <a:ea typeface="Arial"/>
                <a:cs typeface="Arial"/>
                <a:hlinkClick r:id="rId6"/>
              </a:rPr>
              <a:t>адресный</a:t>
            </a:r>
            <a:r>
              <a:rPr sz="900" b="0" dirty="0">
                <a:solidFill>
                  <a:srgbClr val="6554B8"/>
                </a:solidFill>
                <a:latin typeface="Arial"/>
                <a:ea typeface="Arial"/>
                <a:cs typeface="Arial"/>
                <a:hlinkClick r:id="rId6"/>
              </a:rPr>
              <a:t> </a:t>
            </a:r>
            <a:r>
              <a:rPr sz="900" b="0" dirty="0" err="1">
                <a:solidFill>
                  <a:srgbClr val="6554B8"/>
                </a:solidFill>
                <a:latin typeface="Arial"/>
                <a:ea typeface="Arial"/>
                <a:cs typeface="Arial"/>
                <a:hlinkClick r:id="rId6"/>
              </a:rPr>
              <a:t>подбор</a:t>
            </a:r>
            <a:endParaRPr sz="900" b="0" dirty="0">
              <a:solidFill>
                <a:srgbClr val="6554B8"/>
              </a:solidFill>
              <a:latin typeface="Arial"/>
              <a:ea typeface="Arial"/>
              <a:cs typeface="Arial"/>
              <a:hlinkClick r:id="rId6"/>
            </a:endParaRPr>
          </a:p>
        </p:txBody>
      </p:sp>
      <p:sp>
        <p:nvSpPr>
          <p:cNvPr id="35" name="refined-req-14-22">
            <a:extLst>
              <a:ext uri="{FF2B5EF4-FFF2-40B4-BE49-F238E27FC236}">
                <a16:creationId xmlns:a16="http://schemas.microsoft.com/office/drawing/2014/main" id="{D23DB4F3-17F3-4D4D-88E1-B43CEB7B9930}"/>
              </a:ext>
            </a:extLst>
          </p:cNvPr>
          <p:cNvSpPr>
            <a:spLocks noGrp="1"/>
          </p:cNvSpPr>
          <p:nvPr/>
        </p:nvSpPr>
        <p:spPr>
          <a:xfrm>
            <a:off x="4295775" y="60674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7"/>
              </a:rPr>
              <a:t>[5] Репозиторий проекта</a:t>
            </a:r>
          </a:p>
        </p:txBody>
      </p:sp>
      <p:sp>
        <p:nvSpPr>
          <p:cNvPr id="36" name="refined-req-14-23">
            <a:extLst>
              <a:ext uri="{FF2B5EF4-FFF2-40B4-BE49-F238E27FC236}">
                <a16:creationId xmlns:a16="http://schemas.microsoft.com/office/drawing/2014/main" id="{2EDEFBB2-5149-44AC-B94D-BFED54D30DAA}"/>
              </a:ext>
            </a:extLst>
          </p:cNvPr>
          <p:cNvSpPr>
            <a:spLocks noGrp="1"/>
          </p:cNvSpPr>
          <p:nvPr/>
        </p:nvSpPr>
        <p:spPr>
          <a:xfrm>
            <a:off x="8134350" y="60674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8"/>
              </a:rPr>
              <a:t>[6] ФСИ: программа «Старт»</a:t>
            </a:r>
          </a:p>
        </p:txBody>
      </p:sp>
      <p:sp>
        <p:nvSpPr>
          <p:cNvPr id="37" name="refined-req-14-24">
            <a:extLst>
              <a:ext uri="{FF2B5EF4-FFF2-40B4-BE49-F238E27FC236}">
                <a16:creationId xmlns:a16="http://schemas.microsoft.com/office/drawing/2014/main" id="{2723BA4D-F0E0-4DAC-8F01-B08DAD704983}"/>
              </a:ext>
            </a:extLst>
          </p:cNvPr>
          <p:cNvSpPr>
            <a:spLocks noGrp="1"/>
          </p:cNvSpPr>
          <p:nvPr/>
        </p:nvSpPr>
        <p:spPr>
          <a:xfrm>
            <a:off x="457200" y="6296025"/>
            <a:ext cx="3733800" cy="1405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900" b="0">
                <a:solidFill>
                  <a:srgbClr val="6554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54B8"/>
                </a:solidFill>
                <a:latin typeface="Arial"/>
                <a:ea typeface="Arial"/>
                <a:cs typeface="Arial"/>
                <a:hlinkClick r:id="rId9"/>
              </a:rPr>
              <a:t>[7] ФРП: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927641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3662</Words>
  <Application>Microsoft Macintosh PowerPoint</Application>
  <DocSecurity>0</DocSecurity>
  <PresentationFormat>Широкоэкранный</PresentationFormat>
  <Paragraphs>390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denis</cp:lastModifiedBy>
  <cp:revision>47</cp:revision>
  <dcterms:created xsi:type="dcterms:W3CDTF">2026-09-29T21:58:03Z</dcterms:created>
  <dcterms:modified xsi:type="dcterms:W3CDTF">2026-10-03T12:43:46Z</dcterms:modified>
</cp:coreProperties>
</file>